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3" roundtripDataSignature="AMtx7mhaIkZBoBGXrB5YJw1EUIJJjam6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9B052E-8378-4C0E-9BB8-EE7E81229265}">
  <a:tblStyle styleId="{889B052E-8378-4C0E-9BB8-EE7E8122926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19663DE-D88C-4495-B12A-411E228354D2}" styleName="Table_1">
    <a:wholeTbl>
      <a:tcTxStyle b="off" i="off">
        <a:font>
          <a:latin typeface="Garamond"/>
          <a:ea typeface="Garamond"/>
          <a:cs typeface="Garamond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CEFE7"/>
          </a:solidFill>
        </a:fill>
      </a:tcStyle>
    </a:wholeTbl>
    <a:band1H>
      <a:tcTxStyle/>
      <a:tcStyle>
        <a:fill>
          <a:solidFill>
            <a:srgbClr val="D8DDCB"/>
          </a:solidFill>
        </a:fill>
      </a:tcStyle>
    </a:band1H>
    <a:band2H>
      <a:tcTxStyle/>
    </a:band2H>
    <a:band1V>
      <a:tcTxStyle/>
      <a:tcStyle>
        <a:fill>
          <a:solidFill>
            <a:srgbClr val="D8DDCB"/>
          </a:solidFill>
        </a:fill>
      </a:tcStyle>
    </a:band1V>
    <a:band2V>
      <a:tcTxStyle/>
    </a:band2V>
    <a:lastCol>
      <a:tcTxStyle b="on" i="off">
        <a:font>
          <a:latin typeface="Garamond"/>
          <a:ea typeface="Garamond"/>
          <a:cs typeface="Garamond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Garamond"/>
          <a:ea typeface="Garamond"/>
          <a:cs typeface="Garamond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9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0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descr="HD-PanelTitleR1.png" id="22" name="Google Shape;22;p3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30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Title-UniformTrim.png" id="24" name="Google Shape;24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Title-UniformTrim.png" id="25" name="Google Shape;25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30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" type="subTitle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30"/>
          <p:cNvSpPr txBox="1"/>
          <p:nvPr>
            <p:ph idx="10" type="dt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1" type="ftr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/>
          <p:nvPr>
            <p:ph idx="12" type="sldNum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31" name="Google Shape;31;p30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oogle Shape;33;p31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31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1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2"/>
          <p:cNvSpPr txBox="1"/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rial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2"/>
          <p:cNvSpPr txBox="1"/>
          <p:nvPr>
            <p:ph idx="1" type="body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32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45" name="Google Shape;45;p32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33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33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" type="body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0" name="Google Shape;50;p33"/>
          <p:cNvSpPr txBox="1"/>
          <p:nvPr>
            <p:ph idx="2" type="body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57" name="Google Shape;57;p34"/>
          <p:cNvSpPr txBox="1"/>
          <p:nvPr>
            <p:ph idx="2" type="body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3" type="body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59" name="Google Shape;59;p34"/>
          <p:cNvSpPr txBox="1"/>
          <p:nvPr>
            <p:ph idx="4" type="body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63" name="Google Shape;63;p34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5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69" name="Google Shape;69;p35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" type="body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2" type="body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74" name="Google Shape;74;p36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77" name="Google Shape;77;p36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/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/>
          <p:nvPr>
            <p:ph idx="2" type="pic"/>
          </p:nvPr>
        </p:nvSpPr>
        <p:spPr>
          <a:xfrm>
            <a:off x="8094831" y="1041400"/>
            <a:ext cx="3063347" cy="4775200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37"/>
          <p:cNvSpPr txBox="1"/>
          <p:nvPr>
            <p:ph idx="1" type="body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82" name="Google Shape;82;p37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7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8"/>
          <p:cNvSpPr txBox="1"/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8"/>
          <p:cNvSpPr/>
          <p:nvPr>
            <p:ph idx="2" type="pic"/>
          </p:nvPr>
        </p:nvSpPr>
        <p:spPr>
          <a:xfrm>
            <a:off x="1041427" y="1041399"/>
            <a:ext cx="10105972" cy="3335869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38"/>
          <p:cNvSpPr txBox="1"/>
          <p:nvPr>
            <p:ph idx="1" type="body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89" name="Google Shape;89;p38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8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8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Legenda">
  <p:cSld name="Título e Legenda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9"/>
          <p:cNvSpPr txBox="1"/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9"/>
          <p:cNvSpPr txBox="1"/>
          <p:nvPr>
            <p:ph idx="1" type="body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39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9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9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98" name="Google Shape;98;p39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0"/>
          <p:cNvSpPr txBox="1"/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0"/>
          <p:cNvSpPr txBox="1"/>
          <p:nvPr>
            <p:ph idx="1" type="body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300"/>
              <a:buFont typeface="Arial"/>
              <a:buNone/>
              <a:defRPr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Font typeface="Arial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Font typeface="Arial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Font typeface="Arial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Font typeface="Arial"/>
              <a:buNone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02" name="Google Shape;102;p40"/>
          <p:cNvSpPr txBox="1"/>
          <p:nvPr>
            <p:ph idx="2" type="body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40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0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6" name="Google Shape;106;p40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7" name="Google Shape;107;p40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cxnSp>
        <p:nvCxnSpPr>
          <p:cNvPr id="108" name="Google Shape;108;p40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1"/>
          <p:cNvSpPr txBox="1"/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1"/>
          <p:cNvSpPr txBox="1"/>
          <p:nvPr>
            <p:ph idx="1" type="body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41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1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1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o Cartão de Nome">
  <p:cSld name="Citar o Cartão de Nom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2"/>
          <p:cNvSpPr txBox="1"/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2"/>
          <p:cNvSpPr txBox="1"/>
          <p:nvPr>
            <p:ph idx="1" type="body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42"/>
          <p:cNvSpPr txBox="1"/>
          <p:nvPr>
            <p:ph idx="2" type="body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42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2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2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2" name="Google Shape;122;p42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3" name="Google Shape;123;p4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cxnSp>
        <p:nvCxnSpPr>
          <p:cNvPr id="124" name="Google Shape;124;p42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iro ou Falso">
  <p:cSld name="Verdadeiro ou Falso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3"/>
          <p:cNvSpPr txBox="1"/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ria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3"/>
          <p:cNvSpPr txBox="1"/>
          <p:nvPr>
            <p:ph idx="1" type="body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43"/>
          <p:cNvSpPr txBox="1"/>
          <p:nvPr>
            <p:ph idx="2" type="body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9" name="Google Shape;129;p43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3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3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32" name="Google Shape;132;p43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4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4"/>
          <p:cNvSpPr txBox="1"/>
          <p:nvPr>
            <p:ph idx="1" type="body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36" name="Google Shape;136;p44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4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4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39" name="Google Shape;139;p44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5"/>
          <p:cNvSpPr txBox="1"/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5"/>
          <p:cNvSpPr txBox="1"/>
          <p:nvPr>
            <p:ph idx="1" type="body"/>
          </p:nvPr>
        </p:nvSpPr>
        <p:spPr>
          <a:xfrm rot="5400000">
            <a:off x="2565043" y="-287513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43" name="Google Shape;143;p45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5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5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46" name="Google Shape;146;p45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3.jpg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6.xml"/><Relationship Id="rId6" Type="http://schemas.openxmlformats.org/officeDocument/2006/relationships/slideLayout" Target="../slideLayouts/slideLayout3.xml"/><Relationship Id="rId1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28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descr="HD-PanelContent.png" id="7" name="Google Shape;7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2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Content-UniformTrim.png" id="9" name="Google Shape;9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Content-UniformTrim.png" id="10" name="Google Shape;1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28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386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b="0" i="0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46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b="0" i="0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0044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5439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835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835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835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83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83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8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4.jpg"/><Relationship Id="rId5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974" y="1586250"/>
            <a:ext cx="6710393" cy="4487575"/>
          </a:xfrm>
          <a:prstGeom prst="rect">
            <a:avLst/>
          </a:prstGeom>
          <a:blipFill rotWithShape="1">
            <a:blip r:embed="rId4">
              <a:alphaModFix amt="40000"/>
            </a:blip>
            <a:tile algn="tl" flip="none" tx="0" sx="100000" ty="0" sy="100000"/>
          </a:blipFill>
          <a:ln>
            <a:noFill/>
          </a:ln>
          <a:effectLst>
            <a:outerShdw blurRad="50800" sx="81000" rotWithShape="0" algn="ctr" dir="5400000" dist="50800" sy="81000">
              <a:srgbClr val="000000">
                <a:alpha val="98823"/>
              </a:srgbClr>
            </a:outerShdw>
          </a:effectLst>
        </p:spPr>
      </p:pic>
      <p:pic>
        <p:nvPicPr>
          <p:cNvPr descr="Imagem relacionada" id="152" name="Google Shape;15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36429" y="4507606"/>
            <a:ext cx="1738647" cy="168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"/>
          <p:cNvSpPr txBox="1"/>
          <p:nvPr/>
        </p:nvSpPr>
        <p:spPr>
          <a:xfrm>
            <a:off x="2577500" y="662925"/>
            <a:ext cx="7287600" cy="923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00">
              <a:solidFill>
                <a:schemeClr val="dk1"/>
              </a:solidFill>
              <a:latin typeface="Quintessential"/>
              <a:ea typeface="Quintessential"/>
              <a:cs typeface="Quintessential"/>
              <a:sym typeface="Quintessential"/>
            </a:endParaRPr>
          </a:p>
        </p:txBody>
      </p:sp>
      <p:sp>
        <p:nvSpPr>
          <p:cNvPr id="154" name="Google Shape;154;p1"/>
          <p:cNvSpPr/>
          <p:nvPr/>
        </p:nvSpPr>
        <p:spPr>
          <a:xfrm>
            <a:off x="3396950" y="662925"/>
            <a:ext cx="564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</a:t>
            </a:r>
            <a:r>
              <a:rPr i="1" lang="pt-BR" sz="3000">
                <a:solidFill>
                  <a:schemeClr val="dk1"/>
                </a:solidFill>
              </a:rPr>
              <a:t>ramentas Ágeis </a:t>
            </a:r>
            <a:r>
              <a:rPr i="1" lang="pt-BR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(Frameworks) 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"/>
          <p:cNvSpPr txBox="1"/>
          <p:nvPr/>
        </p:nvSpPr>
        <p:spPr>
          <a:xfrm>
            <a:off x="928475" y="872200"/>
            <a:ext cx="10024800" cy="53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EXPLORE SUA CRIATIVIDADE! </a:t>
            </a:r>
            <a:endParaRPr sz="2800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A partir do template escolhido, utilize-o para desenvolver seu projeto.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Seja criativo e apresente novas ideias que possam ser colocadas em prática para solucionar o problema identificado na área do conhecimento de sua pós-graduação.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Se você já atua na área, poderá identificar uma problemática em seu ambiente profissional e, a partir do framework escolhido, desenvolver sua proposta.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Deixe as ideias fluírem e coloque em prática seus conhecimentos!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descr="Imagem relacionada" id="160" name="Google Shape;1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415" y="0"/>
            <a:ext cx="1124585" cy="1124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"/>
          <p:cNvSpPr/>
          <p:nvPr/>
        </p:nvSpPr>
        <p:spPr>
          <a:xfrm>
            <a:off x="9008353" y="3449390"/>
            <a:ext cx="3314165" cy="3058018"/>
          </a:xfrm>
          <a:prstGeom prst="verticalScroll">
            <a:avLst>
              <a:gd fmla="val 12500" name="adj"/>
            </a:avLst>
          </a:prstGeom>
          <a:solidFill>
            <a:srgbClr val="D8D8D8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</a:pPr>
            <a:r>
              <a:rPr lang="pt-BR"/>
              <a:t>ÁGILE SCRUM</a:t>
            </a:r>
            <a:endParaRPr/>
          </a:p>
        </p:txBody>
      </p:sp>
      <p:sp>
        <p:nvSpPr>
          <p:cNvPr id="167" name="Google Shape;167;p3"/>
          <p:cNvSpPr txBox="1"/>
          <p:nvPr>
            <p:ph idx="1" type="subTitle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pt-BR"/>
              <a:t>O Ágile Scrum garante o desenvolvimento mais rápido e prático, porém consistente.</a:t>
            </a:r>
            <a:endParaRPr/>
          </a:p>
        </p:txBody>
      </p:sp>
      <p:pic>
        <p:nvPicPr>
          <p:cNvPr descr="Imagem relacionada" id="168" name="Google Shape;1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415" y="0"/>
            <a:ext cx="1124585" cy="112458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"/>
          <p:cNvSpPr txBox="1"/>
          <p:nvPr/>
        </p:nvSpPr>
        <p:spPr>
          <a:xfrm>
            <a:off x="9379276" y="3886963"/>
            <a:ext cx="25722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 para a realização e gerenciamento de projetos, principalmente quando feito em equipe. 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4"/>
          <p:cNvGrpSpPr/>
          <p:nvPr/>
        </p:nvGrpSpPr>
        <p:grpSpPr>
          <a:xfrm>
            <a:off x="743685" y="910886"/>
            <a:ext cx="10679875" cy="4523997"/>
            <a:chOff x="9589" y="60881"/>
            <a:chExt cx="10679875" cy="4523997"/>
          </a:xfrm>
        </p:grpSpPr>
        <p:sp>
          <p:nvSpPr>
            <p:cNvPr id="175" name="Google Shape;175;p4"/>
            <p:cNvSpPr/>
            <p:nvPr/>
          </p:nvSpPr>
          <p:spPr>
            <a:xfrm>
              <a:off x="9589" y="72849"/>
              <a:ext cx="1661331" cy="486946"/>
            </a:xfrm>
            <a:prstGeom prst="rect">
              <a:avLst/>
            </a:prstGeom>
            <a:solidFill>
              <a:srgbClr val="CEE8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 txBox="1"/>
            <p:nvPr/>
          </p:nvSpPr>
          <p:spPr>
            <a:xfrm>
              <a:off x="9589" y="72849"/>
              <a:ext cx="1661331" cy="4869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825" lIns="92450" spcFirstLastPara="1" rIns="92450" wrap="square" tIns="528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Definir Product Owner” e “Scrum Master</a:t>
              </a:r>
              <a:endParaRPr b="1" i="0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24969" y="606078"/>
              <a:ext cx="1633968" cy="3928297"/>
            </a:xfrm>
            <a:prstGeom prst="rect">
              <a:avLst/>
            </a:prstGeom>
            <a:solidFill>
              <a:srgbClr val="CEE8D4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"/>
            <p:cNvSpPr txBox="1"/>
            <p:nvPr/>
          </p:nvSpPr>
          <p:spPr>
            <a:xfrm>
              <a:off x="24969" y="606078"/>
              <a:ext cx="1633968" cy="3928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905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b="1" i="0" lang="pt-B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Definir quem assumirá os papéis</a:t>
              </a:r>
              <a:r>
                <a:rPr b="0" i="0" lang="pt-B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b="0" i="0" lang="pt-BR" sz="12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Scrum Master</a:t>
              </a:r>
              <a:r>
                <a:rPr b="0" i="0" lang="pt-B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assume de liderar a equipe, para cumprir regras e valores. O    </a:t>
              </a:r>
              <a:r>
                <a:rPr b="0" i="0" lang="pt-BR" sz="12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Product Owner </a:t>
              </a:r>
              <a:r>
                <a:rPr b="0" i="0" lang="pt-B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assume o papel de dono do produto e investidor. É o principal tomador de decisões do projeto.</a:t>
              </a:r>
              <a:endPara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1859444" y="60881"/>
              <a:ext cx="1533360" cy="486946"/>
            </a:xfrm>
            <a:prstGeom prst="rect">
              <a:avLst/>
            </a:prstGeom>
            <a:solidFill>
              <a:srgbClr val="BBDF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 txBox="1"/>
            <p:nvPr/>
          </p:nvSpPr>
          <p:spPr>
            <a:xfrm>
              <a:off x="1859444" y="60881"/>
              <a:ext cx="1533360" cy="4869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6875" lIns="99550" spcFirstLastPara="1" rIns="99550" wrap="square" tIns="56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Equipe</a:t>
              </a:r>
              <a:endPara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1870672" y="608708"/>
              <a:ext cx="1510903" cy="3976170"/>
            </a:xfrm>
            <a:prstGeom prst="rect">
              <a:avLst/>
            </a:prstGeom>
            <a:solidFill>
              <a:srgbClr val="BBDFC4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"/>
            <p:cNvSpPr txBox="1"/>
            <p:nvPr/>
          </p:nvSpPr>
          <p:spPr>
            <a:xfrm>
              <a:off x="1870672" y="608708"/>
              <a:ext cx="1510903" cy="3976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000" lIns="64000" spcFirstLastPara="1" rIns="85325" wrap="square" tIns="64000">
              <a:noAutofit/>
            </a:bodyPr>
            <a:lstStyle/>
            <a:p>
              <a:pPr indent="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b="1" i="0" lang="pt-B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Escolha uma equipe. </a:t>
              </a:r>
              <a:r>
                <a:rPr b="0" i="0" lang="pt-B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Essa equipe deverá ter habilidades necessárias para executar todas as etapas do projeto, pois será a responsável por entregar aquilo que foi estabelecido como meta do projeto.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3581328" y="60881"/>
              <a:ext cx="1644522" cy="486946"/>
            </a:xfrm>
            <a:prstGeom prst="rect">
              <a:avLst/>
            </a:prstGeom>
            <a:solidFill>
              <a:srgbClr val="9DDF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 txBox="1"/>
            <p:nvPr/>
          </p:nvSpPr>
          <p:spPr>
            <a:xfrm>
              <a:off x="3581328" y="60881"/>
              <a:ext cx="1644522" cy="4869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6875" lIns="99550" spcFirstLastPara="1" rIns="99550" wrap="square" tIns="56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Product Backlog 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3603528" y="608708"/>
              <a:ext cx="1600122" cy="3976170"/>
            </a:xfrm>
            <a:prstGeom prst="rect">
              <a:avLst/>
            </a:prstGeom>
            <a:solidFill>
              <a:srgbClr val="9DDFAA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 txBox="1"/>
            <p:nvPr/>
          </p:nvSpPr>
          <p:spPr>
            <a:xfrm>
              <a:off x="3603528" y="608708"/>
              <a:ext cx="1600122" cy="3976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000" lIns="64000" spcFirstLastPara="1" rIns="85325" wrap="square" tIns="64000">
              <a:noAutofit/>
            </a:bodyPr>
            <a:lstStyle/>
            <a:p>
              <a:pPr indent="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b="1" i="0" lang="pt-B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Crie e priorize um Product Backlog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b="0" i="0" lang="pt-B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Lista detalhada de tudo o que precisa ser realizado para transformar a visão do produto em realidade. 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5415041" y="60881"/>
              <a:ext cx="1680552" cy="486946"/>
            </a:xfrm>
            <a:prstGeom prst="rect">
              <a:avLst/>
            </a:prstGeom>
            <a:solidFill>
              <a:srgbClr val="75D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"/>
            <p:cNvSpPr txBox="1"/>
            <p:nvPr/>
          </p:nvSpPr>
          <p:spPr>
            <a:xfrm>
              <a:off x="5415041" y="60881"/>
              <a:ext cx="1680552" cy="4869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6875" lIns="99550" spcFirstLastPara="1" rIns="99550" wrap="square" tIns="56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Product Backlog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Estimativas</a:t>
              </a:r>
              <a:endPara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5414374" y="608708"/>
              <a:ext cx="1681886" cy="3976170"/>
            </a:xfrm>
            <a:prstGeom prst="rect">
              <a:avLst/>
            </a:prstGeom>
            <a:solidFill>
              <a:srgbClr val="75DD9D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 txBox="1"/>
            <p:nvPr/>
          </p:nvSpPr>
          <p:spPr>
            <a:xfrm>
              <a:off x="5414374" y="608708"/>
              <a:ext cx="1681886" cy="3976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000" lIns="64000" spcFirstLastPara="1" rIns="85325" wrap="square" tIns="64000">
              <a:noAutofit/>
            </a:bodyPr>
            <a:lstStyle/>
            <a:p>
              <a:pPr indent="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b="1" i="0" lang="pt-B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Elabore as Estimativas do Product Backlog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b="0" i="0" lang="pt-B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É preciso indicar o esforço para realização de cada um dos itens do backlog, bem como se existem informações suficientes para concluí-los, ou seja, se cada item é factível.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7293964" y="60881"/>
              <a:ext cx="1535166" cy="486946"/>
            </a:xfrm>
            <a:prstGeom prst="rect">
              <a:avLst/>
            </a:prstGeom>
            <a:solidFill>
              <a:srgbClr val="4EC6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"/>
            <p:cNvSpPr txBox="1"/>
            <p:nvPr/>
          </p:nvSpPr>
          <p:spPr>
            <a:xfrm>
              <a:off x="7293964" y="60881"/>
              <a:ext cx="1535166" cy="4869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6875" lIns="99550" spcFirstLastPara="1" rIns="99550" wrap="square" tIns="56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Planejamento do Sprint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7284785" y="608708"/>
              <a:ext cx="1553525" cy="3976170"/>
            </a:xfrm>
            <a:prstGeom prst="rect">
              <a:avLst/>
            </a:prstGeom>
            <a:solidFill>
              <a:srgbClr val="4EC673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4"/>
            <p:cNvSpPr txBox="1"/>
            <p:nvPr/>
          </p:nvSpPr>
          <p:spPr>
            <a:xfrm>
              <a:off x="7284785" y="608708"/>
              <a:ext cx="1553525" cy="3976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000" lIns="64000" spcFirstLastPara="1" rIns="85325" wrap="square" tIns="64000">
              <a:noAutofit/>
            </a:bodyPr>
            <a:lstStyle/>
            <a:p>
              <a:pPr indent="-381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b="0" i="0" lang="pt-B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Sprint é cada uma das fases do projeto, estipuladas em espaços determinados de tempo. As equipes devem olhar para as tarefas no topo do Backlog e estimar o quanto podem fazer naquele Sprint</a:t>
              </a:r>
              <a:r>
                <a:rPr b="1" i="0" lang="pt-B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9027966" y="60881"/>
              <a:ext cx="1650777" cy="48694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"/>
            <p:cNvSpPr txBox="1"/>
            <p:nvPr/>
          </p:nvSpPr>
          <p:spPr>
            <a:xfrm>
              <a:off x="9027966" y="60881"/>
              <a:ext cx="1650777" cy="4869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825" lIns="92450" spcFirstLastPara="1" rIns="92450" wrap="square" tIns="528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Sprint Review /Demonstração do Produto</a:t>
              </a:r>
              <a:endParaRPr b="1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9036423" y="608708"/>
              <a:ext cx="1653041" cy="3976170"/>
            </a:xfrm>
            <a:prstGeom prst="rect">
              <a:avLst/>
            </a:prstGeom>
            <a:solidFill>
              <a:srgbClr val="00B050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 txBox="1"/>
            <p:nvPr/>
          </p:nvSpPr>
          <p:spPr>
            <a:xfrm>
              <a:off x="9036423" y="608708"/>
              <a:ext cx="1653041" cy="3976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000" lIns="64000" spcFirstLastPara="1" rIns="85325" wrap="square" tIns="64000">
              <a:noAutofit/>
            </a:bodyPr>
            <a:lstStyle/>
            <a:p>
              <a:pPr indent="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8100" lvl="1" marL="11430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b="1" i="0" lang="pt-B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Sprint Review ou Demonstração do Produto - </a:t>
              </a:r>
              <a:r>
                <a:rPr b="0" i="0" lang="pt-B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Esta é uma reunião aberta na qual a equipe demonstra o que conseguiu concluir. A equipe só deve apresentar o que está integralmente de acordo com a Definition of Done, ou seja, o que está total e completamente concluído e pode ser entregue sem qualquer trabalho adicional.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5715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5715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5715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5715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5715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5715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5715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5715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</a:pPr>
            <a:r>
              <a:rPr lang="pt-BR"/>
              <a:t>ANÁLISE SWOT</a:t>
            </a:r>
            <a:endParaRPr/>
          </a:p>
        </p:txBody>
      </p:sp>
      <p:sp>
        <p:nvSpPr>
          <p:cNvPr id="204" name="Google Shape;204;p5"/>
          <p:cNvSpPr txBox="1"/>
          <p:nvPr>
            <p:ph idx="1" type="subTitle"/>
          </p:nvPr>
        </p:nvSpPr>
        <p:spPr>
          <a:xfrm>
            <a:off x="2396184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pt-BR"/>
              <a:t>Análise Swot é uma ferramenta para planejamento estratégico ao qual identifica pontos positivos e negativos.</a:t>
            </a:r>
            <a:endParaRPr/>
          </a:p>
        </p:txBody>
      </p:sp>
      <p:pic>
        <p:nvPicPr>
          <p:cNvPr descr="Imagem relacionada" id="205" name="Google Shape;2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415" y="0"/>
            <a:ext cx="1124585" cy="112458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"/>
          <p:cNvSpPr/>
          <p:nvPr/>
        </p:nvSpPr>
        <p:spPr>
          <a:xfrm>
            <a:off x="8877835" y="3449390"/>
            <a:ext cx="3314165" cy="3058018"/>
          </a:xfrm>
          <a:prstGeom prst="verticalScroll">
            <a:avLst>
              <a:gd fmla="val 12500" name="adj"/>
            </a:avLst>
          </a:prstGeom>
          <a:solidFill>
            <a:srgbClr val="D8D8D8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9363863" y="3810275"/>
            <a:ext cx="2342100" cy="2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 para abertura de novas empresas ou para o lançamento de novos produtos/ serviços. Também pode ser utilizada por gestores e consultores para a realização de planos de ação.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" name="Google Shape;212;p6"/>
          <p:cNvGraphicFramePr/>
          <p:nvPr/>
        </p:nvGraphicFramePr>
        <p:xfrm>
          <a:off x="1754945" y="10285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9269375"/>
              </a:tblGrid>
              <a:tr h="51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3" name="Google Shape;213;p6"/>
          <p:cNvGraphicFramePr/>
          <p:nvPr/>
        </p:nvGraphicFramePr>
        <p:xfrm>
          <a:off x="1957201" y="5074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{A19663DE-D88C-4495-B12A-411E228354D2}</a:tableStyleId>
              </a:tblPr>
              <a:tblGrid>
                <a:gridCol w="87925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4" name="Google Shape;214;p6"/>
          <p:cNvGraphicFramePr/>
          <p:nvPr/>
        </p:nvGraphicFramePr>
        <p:xfrm>
          <a:off x="1762620" y="577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9169575"/>
              </a:tblGrid>
              <a:tr h="485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5" name="Google Shape;215;p6"/>
          <p:cNvGraphicFramePr/>
          <p:nvPr/>
        </p:nvGraphicFramePr>
        <p:xfrm>
          <a:off x="626994" y="10193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1135625"/>
              </a:tblGrid>
              <a:tr h="513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cxnSp>
        <p:nvCxnSpPr>
          <p:cNvPr id="216" name="Google Shape;216;p6"/>
          <p:cNvCxnSpPr/>
          <p:nvPr/>
        </p:nvCxnSpPr>
        <p:spPr>
          <a:xfrm>
            <a:off x="626994" y="3362032"/>
            <a:ext cx="1032069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6"/>
          <p:cNvCxnSpPr/>
          <p:nvPr/>
        </p:nvCxnSpPr>
        <p:spPr>
          <a:xfrm flipH="1">
            <a:off x="6132227" y="446671"/>
            <a:ext cx="12784" cy="571177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6"/>
          <p:cNvSpPr txBox="1"/>
          <p:nvPr/>
        </p:nvSpPr>
        <p:spPr>
          <a:xfrm>
            <a:off x="6801730" y="1144563"/>
            <a:ext cx="3200399" cy="1049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1814732" y="4107766"/>
            <a:ext cx="3151163" cy="485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6175717" y="3711918"/>
            <a:ext cx="3671668" cy="853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1849560" y="517635"/>
            <a:ext cx="426731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FATORES POSITIVOS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AUXILIAM O AMBIENTE ESTRATÉGICO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6353454" y="500930"/>
            <a:ext cx="459423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FATORES NEGATIVOS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ATRAPALHAM O AMBIENTE ESTRATÉGICO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 txBox="1"/>
          <p:nvPr/>
        </p:nvSpPr>
        <p:spPr>
          <a:xfrm rot="-5400000">
            <a:off x="-33466" y="1799402"/>
            <a:ext cx="254610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AMBIENTE INTERNO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CARACTERISTICAS DAS INSTITUIÇÕES)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 txBox="1"/>
          <p:nvPr/>
        </p:nvSpPr>
        <p:spPr>
          <a:xfrm rot="-5400000">
            <a:off x="-197732" y="4375840"/>
            <a:ext cx="283018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AMBIENTE EXTERNO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CARACTERISTICAS DO MERCADO)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1785797" y="1067771"/>
            <a:ext cx="4315724" cy="2294261"/>
          </a:xfrm>
          <a:prstGeom prst="rect">
            <a:avLst/>
          </a:prstGeom>
          <a:solidFill>
            <a:srgbClr val="B8EDFA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1814732" y="3404013"/>
            <a:ext cx="4286789" cy="2754435"/>
          </a:xfrm>
          <a:prstGeom prst="rect">
            <a:avLst/>
          </a:prstGeom>
          <a:solidFill>
            <a:srgbClr val="B8EDFA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6175716" y="3403926"/>
            <a:ext cx="4808579" cy="2754521"/>
          </a:xfrm>
          <a:prstGeom prst="rect">
            <a:avLst/>
          </a:prstGeom>
          <a:solidFill>
            <a:srgbClr val="F8EFD7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175716" y="1085706"/>
            <a:ext cx="4808579" cy="2276326"/>
          </a:xfrm>
          <a:prstGeom prst="rect">
            <a:avLst/>
          </a:prstGeom>
          <a:solidFill>
            <a:srgbClr val="F8EFD7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</a:pPr>
            <a:r>
              <a:rPr lang="pt-BR"/>
              <a:t>CANVAS</a:t>
            </a:r>
            <a:endParaRPr/>
          </a:p>
        </p:txBody>
      </p:sp>
      <p:sp>
        <p:nvSpPr>
          <p:cNvPr id="234" name="Google Shape;234;p7"/>
          <p:cNvSpPr txBox="1"/>
          <p:nvPr>
            <p:ph idx="1" type="subTitle"/>
          </p:nvPr>
        </p:nvSpPr>
        <p:spPr>
          <a:xfrm>
            <a:off x="2396183" y="374461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pt-BR"/>
              <a:t>Canvas é uma ferramenta estratégica que auxilia na elaboração e planejamento.</a:t>
            </a:r>
            <a:endParaRPr/>
          </a:p>
          <a:p>
            <a:pPr indent="0" lvl="0" marL="0" rtl="0" algn="ctr">
              <a:spcBef>
                <a:spcPts val="1020"/>
              </a:spcBef>
              <a:spcAft>
                <a:spcPts val="0"/>
              </a:spcAft>
              <a:buSzPts val="2415"/>
              <a:buNone/>
            </a:pPr>
            <a:r>
              <a:t/>
            </a:r>
            <a:endParaRPr/>
          </a:p>
        </p:txBody>
      </p:sp>
      <p:pic>
        <p:nvPicPr>
          <p:cNvPr descr="Imagem relacionada" id="235" name="Google Shape;2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415" y="0"/>
            <a:ext cx="1124585" cy="112458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7"/>
          <p:cNvSpPr/>
          <p:nvPr/>
        </p:nvSpPr>
        <p:spPr>
          <a:xfrm>
            <a:off x="8912181" y="2859110"/>
            <a:ext cx="3554568" cy="3648298"/>
          </a:xfrm>
          <a:prstGeom prst="verticalScroll">
            <a:avLst>
              <a:gd fmla="val 12500" name="adj"/>
            </a:avLst>
          </a:prstGeom>
          <a:solidFill>
            <a:srgbClr val="D8D8D8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9405034" y="3310156"/>
            <a:ext cx="2572200" cy="30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Utilizado para o planejamento de novos modelos de negócios (Startups) e lançamento de produtos/serviços, de modo a apresentar uma visão geral sobre o projeto. 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/>
          <p:nvPr/>
        </p:nvSpPr>
        <p:spPr>
          <a:xfrm>
            <a:off x="1004552" y="112981"/>
            <a:ext cx="1049628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CANVAS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3" name="Google Shape;243;p8"/>
          <p:cNvGraphicFramePr/>
          <p:nvPr/>
        </p:nvGraphicFramePr>
        <p:xfrm>
          <a:off x="772731" y="62180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{A19663DE-D88C-4495-B12A-411E228354D2}</a:tableStyleId>
              </a:tblPr>
              <a:tblGrid>
                <a:gridCol w="2191100"/>
                <a:gridCol w="2191100"/>
                <a:gridCol w="2323400"/>
                <a:gridCol w="2123875"/>
                <a:gridCol w="1898625"/>
              </a:tblGrid>
              <a:tr h="25979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Parceiros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Quem são os colaboradores da instituição?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Atividades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Quais atividades propõe realizar? Em quanto tempo (dias, semanas, meses, anos)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>
                    <a:solidFill>
                      <a:srgbClr val="B8C0A4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Desafios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Quais problemas podem ser encontrados?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Diante desses problemas, sugira estratégias para solucionar as fragilidades.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/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Relacionamentos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Você irá realizar a ação com uma equipe? Sozinho?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Que relação você pode ter com os colaboradores dessa organização?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>
                    <a:solidFill>
                      <a:srgbClr val="B8C0A4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Perfil das Pessoas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Relate o perfil das pessoas da instituição escolhida.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● residem em que local?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● grau de escolaridade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● idade dos colaboradores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/>
                </a:tc>
              </a:tr>
              <a:tr h="398700">
                <a:tc v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Recursos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Quais recursos poderão ser utilizados para executar a ação?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/>
                </a:tc>
                <a:tc vMerge="1"/>
                <a:tc vMerge="1"/>
                <a:tc vMerge="1"/>
              </a:tr>
              <a:tr h="33357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Inovação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Quais diferenciais sua proposta pode agregar?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>
                    <a:solidFill>
                      <a:srgbClr val="EAEDE3"/>
                    </a:solidFill>
                  </a:tcPr>
                </a:tc>
                <a:tc vMerge="1"/>
              </a:tr>
              <a:tr h="9029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Custos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Qual o valor pretende investir na ação?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>
                    <a:solidFill>
                      <a:srgbClr val="B8C0A4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Beneficiário/Público Alvo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Sua proposta poderá atingir somente as pessoas da instituição? Justifique.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Avaliação/ Resultado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Quais os resultados obtidos?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>
                    <a:solidFill>
                      <a:srgbClr val="B8C0A4"/>
                    </a:solidFill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"/>
          <p:cNvSpPr/>
          <p:nvPr/>
        </p:nvSpPr>
        <p:spPr>
          <a:xfrm>
            <a:off x="1004552" y="112981"/>
            <a:ext cx="1049628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CANVAS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9" name="Google Shape;249;p9"/>
          <p:cNvGraphicFramePr/>
          <p:nvPr/>
        </p:nvGraphicFramePr>
        <p:xfrm>
          <a:off x="772731" y="45153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{A19663DE-D88C-4495-B12A-411E228354D2}</a:tableStyleId>
              </a:tblPr>
              <a:tblGrid>
                <a:gridCol w="1893200"/>
                <a:gridCol w="2489000"/>
                <a:gridCol w="2323400"/>
                <a:gridCol w="2123875"/>
                <a:gridCol w="1898625"/>
              </a:tblGrid>
              <a:tr h="236610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>Parceiros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Quem são os colaboradores da instituição?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Ex: Fornecedores de tecidos,</a:t>
                      </a: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correios (transportes).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Fornecedores de bebidas, alimentos.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7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>Atividades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Quais atividades propõe realizar</a:t>
                      </a: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?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Ex: Confecção</a:t>
                      </a:r>
                      <a:r>
                        <a:rPr lang="pt-BR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própria; criação de estampas; aplicação de estampas em tecidos; modelagem, corte, costura das peças.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Novas bebidas,</a:t>
                      </a:r>
                      <a:r>
                        <a:rPr lang="pt-BR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tipos de alimentos, espaço gourmet, restaurante, loja, eventos, etc. 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D9F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>Proposta</a:t>
                      </a:r>
                      <a:r>
                        <a:rPr b="1" lang="pt-BR" sz="16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> e </a:t>
                      </a:r>
                      <a:r>
                        <a:rPr b="1" lang="pt-BR" sz="16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>Desafios</a:t>
                      </a:r>
                      <a:endParaRPr b="1" sz="1600" u="sng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Quais problemas podem ser encontrados?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Diante desses problemas, sugira estratégias para solucionar as fragilidades.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7427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>Relação com o cliente</a:t>
                      </a:r>
                      <a:endParaRPr b="1" sz="1600" u="sng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Você irá realizar a ação com uma equipe? Sozinho?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Que relação você pode ter com os colaboradores dessa organização? E o cliente?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Ex: o atendimento será direto? Imediato? Redes sociais,</a:t>
                      </a: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meios de comunicação?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D669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>Perfil das Pessoas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Relate o perfil das pessoas /público alvo da sua criação. Faixa etária, ocasião, etc.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8E88"/>
                    </a:solidFill>
                  </a:tcPr>
                </a:tc>
              </a:tr>
              <a:tr h="592425">
                <a:tc v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>Recursos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Quais recursos poderão ser utilizados para executar a ação?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Ex: Maquinário: tipo de máquina de costura, bebidas e alimentos;</a:t>
                      </a: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utensílios; Computador, software.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49A"/>
                    </a:solidFill>
                  </a:tcPr>
                </a:tc>
                <a:tc vMerge="1"/>
                <a:tc vMerge="1"/>
                <a:tc vMerge="1"/>
              </a:tr>
              <a:tr h="72467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>Inovação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Quais diferenciais sua proposta pode agregar?</a:t>
                      </a:r>
                      <a:endParaRPr b="1"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 vMerge="1"/>
              </a:tr>
              <a:tr h="9029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>Custos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Qual o valor pretende investir na ação?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lang="pt-BR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Vestuário: tecidos, acessórios,</a:t>
                      </a:r>
                      <a:r>
                        <a:rPr lang="pt-BR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mão de obra, etc.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Bebidas e alimentos: espaço, embalagens, mão de obra, etc.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Possíveis formas de pagamento: débito/ parcela.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4D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>Beneficiário/Público Alvo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Sua proposta poderá atingir somente as pessoas da instituição? Justifique.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>Avaliação/ Resultado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Quais os resultados obtidos?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31875" marL="318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" name="Google Shape;254;p10"/>
          <p:cNvGraphicFramePr/>
          <p:nvPr/>
        </p:nvGraphicFramePr>
        <p:xfrm>
          <a:off x="824135" y="6251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10508575"/>
              </a:tblGrid>
              <a:tr h="566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r>
                        <a:rPr b="1" lang="pt-BR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PROBLEMA</a:t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CC"/>
                    </a:solidFill>
                  </a:tcPr>
                </a:tc>
              </a:tr>
            </a:tbl>
          </a:graphicData>
        </a:graphic>
      </p:graphicFrame>
      <p:cxnSp>
        <p:nvCxnSpPr>
          <p:cNvPr id="255" name="Google Shape;255;p10"/>
          <p:cNvCxnSpPr/>
          <p:nvPr/>
        </p:nvCxnSpPr>
        <p:spPr>
          <a:xfrm>
            <a:off x="618978" y="4389120"/>
            <a:ext cx="10480431" cy="1406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10"/>
          <p:cNvCxnSpPr/>
          <p:nvPr/>
        </p:nvCxnSpPr>
        <p:spPr>
          <a:xfrm>
            <a:off x="2694890" y="625139"/>
            <a:ext cx="0" cy="379212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10"/>
          <p:cNvCxnSpPr/>
          <p:nvPr/>
        </p:nvCxnSpPr>
        <p:spPr>
          <a:xfrm>
            <a:off x="4967948" y="647240"/>
            <a:ext cx="0" cy="374791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10"/>
          <p:cNvCxnSpPr/>
          <p:nvPr/>
        </p:nvCxnSpPr>
        <p:spPr>
          <a:xfrm flipH="1">
            <a:off x="6792350" y="657626"/>
            <a:ext cx="2345" cy="375963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10"/>
          <p:cNvCxnSpPr/>
          <p:nvPr/>
        </p:nvCxnSpPr>
        <p:spPr>
          <a:xfrm>
            <a:off x="8972843" y="555561"/>
            <a:ext cx="0" cy="382979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10"/>
          <p:cNvCxnSpPr/>
          <p:nvPr/>
        </p:nvCxnSpPr>
        <p:spPr>
          <a:xfrm>
            <a:off x="2679607" y="2372167"/>
            <a:ext cx="2256692" cy="104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10"/>
          <p:cNvCxnSpPr/>
          <p:nvPr/>
        </p:nvCxnSpPr>
        <p:spPr>
          <a:xfrm>
            <a:off x="6794695" y="2572043"/>
            <a:ext cx="217814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10"/>
          <p:cNvSpPr txBox="1"/>
          <p:nvPr/>
        </p:nvSpPr>
        <p:spPr>
          <a:xfrm>
            <a:off x="3228243" y="671237"/>
            <a:ext cx="118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SOLUÇÃO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 txBox="1"/>
          <p:nvPr/>
        </p:nvSpPr>
        <p:spPr>
          <a:xfrm>
            <a:off x="2838867" y="2491530"/>
            <a:ext cx="19811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MÉTRICAS-CHAVE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 txBox="1"/>
          <p:nvPr/>
        </p:nvSpPr>
        <p:spPr>
          <a:xfrm>
            <a:off x="4823972" y="625140"/>
            <a:ext cx="199527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PROPOSTA DE VALOR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 txBox="1"/>
          <p:nvPr/>
        </p:nvSpPr>
        <p:spPr>
          <a:xfrm>
            <a:off x="6953028" y="573257"/>
            <a:ext cx="17021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VANTAGEM COMPETITIVA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 txBox="1"/>
          <p:nvPr/>
        </p:nvSpPr>
        <p:spPr>
          <a:xfrm>
            <a:off x="7352714" y="2644726"/>
            <a:ext cx="12942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CANAIS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0"/>
          <p:cNvSpPr txBox="1"/>
          <p:nvPr/>
        </p:nvSpPr>
        <p:spPr>
          <a:xfrm>
            <a:off x="9401909" y="669343"/>
            <a:ext cx="15357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SEGMENTO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10"/>
          <p:cNvCxnSpPr/>
          <p:nvPr/>
        </p:nvCxnSpPr>
        <p:spPr>
          <a:xfrm>
            <a:off x="5809957" y="4403188"/>
            <a:ext cx="11650" cy="185331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10"/>
          <p:cNvSpPr txBox="1"/>
          <p:nvPr/>
        </p:nvSpPr>
        <p:spPr>
          <a:xfrm>
            <a:off x="975360" y="4682176"/>
            <a:ext cx="26447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ESTRUTURA DE CUSTOS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 txBox="1"/>
          <p:nvPr/>
        </p:nvSpPr>
        <p:spPr>
          <a:xfrm>
            <a:off x="6202679" y="4550793"/>
            <a:ext cx="1603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RECEITAS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"/>
          <p:cNvSpPr txBox="1"/>
          <p:nvPr/>
        </p:nvSpPr>
        <p:spPr>
          <a:xfrm>
            <a:off x="926237" y="1190660"/>
            <a:ext cx="1786599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Faça uma lista dos três principais problemas que precisam ser resolvidos. Esse é o momento de avaliar como os seus clientes em potencial estão resolvendo o problema que a sua empresa se propõe solucionar. </a:t>
            </a:r>
            <a:endParaRPr/>
          </a:p>
        </p:txBody>
      </p:sp>
      <p:sp>
        <p:nvSpPr>
          <p:cNvPr id="272" name="Google Shape;272;p10"/>
          <p:cNvSpPr txBox="1"/>
          <p:nvPr/>
        </p:nvSpPr>
        <p:spPr>
          <a:xfrm>
            <a:off x="2818052" y="1273261"/>
            <a:ext cx="208905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Neste ponto descreva de forma sucinta as melhores soluções do seu produto.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2815390" y="2910598"/>
            <a:ext cx="206575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Defina as principais ações e métricas que darão suporte à geração de receitas e como será feito o contato com o usuário e a retenção do mesmo.</a:t>
            </a:r>
            <a:endParaRPr/>
          </a:p>
        </p:txBody>
      </p:sp>
      <p:sp>
        <p:nvSpPr>
          <p:cNvPr id="274" name="Google Shape;274;p10"/>
          <p:cNvSpPr txBox="1"/>
          <p:nvPr/>
        </p:nvSpPr>
        <p:spPr>
          <a:xfrm>
            <a:off x="4967948" y="1558379"/>
            <a:ext cx="1719186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é um momento para escolher bem as palavras e resumir em que consiste seu produto/serviço, demonstrando o porquê de ele ser merecedor do dinheiro dos clientes.</a:t>
            </a:r>
            <a:endParaRPr/>
          </a:p>
        </p:txBody>
      </p:sp>
      <p:sp>
        <p:nvSpPr>
          <p:cNvPr id="275" name="Google Shape;275;p10"/>
          <p:cNvSpPr txBox="1"/>
          <p:nvPr/>
        </p:nvSpPr>
        <p:spPr>
          <a:xfrm>
            <a:off x="6979920" y="1150814"/>
            <a:ext cx="203981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 você precisa apresentar o grande diferencial de sua ideia, que a fará se destacar diante da concorrência e que irá trazer inovação.</a:t>
            </a:r>
            <a:endParaRPr/>
          </a:p>
        </p:txBody>
      </p:sp>
      <p:sp>
        <p:nvSpPr>
          <p:cNvPr id="276" name="Google Shape;276;p10"/>
          <p:cNvSpPr txBox="1"/>
          <p:nvPr/>
        </p:nvSpPr>
        <p:spPr>
          <a:xfrm>
            <a:off x="6928926" y="3011159"/>
            <a:ext cx="1971232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hora de pensar em como seu produto ou serviço chegará até os seus potenciais clientes e avaliar os custos dessa comunicação</a:t>
            </a:r>
            <a:endParaRPr/>
          </a:p>
        </p:txBody>
      </p:sp>
      <p:sp>
        <p:nvSpPr>
          <p:cNvPr id="277" name="Google Shape;277;p10"/>
          <p:cNvSpPr txBox="1"/>
          <p:nvPr/>
        </p:nvSpPr>
        <p:spPr>
          <a:xfrm>
            <a:off x="9324463" y="1586318"/>
            <a:ext cx="1826528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Busque atender quem são os clientes que podem se interessar e precisam da sua solução</a:t>
            </a:r>
            <a:endParaRPr/>
          </a:p>
        </p:txBody>
      </p:sp>
      <p:sp>
        <p:nvSpPr>
          <p:cNvPr id="278" name="Google Shape;278;p10"/>
          <p:cNvSpPr txBox="1"/>
          <p:nvPr/>
        </p:nvSpPr>
        <p:spPr>
          <a:xfrm>
            <a:off x="1079109" y="5243378"/>
            <a:ext cx="462826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Organize em uma lista todos os custos fixos e variáveis</a:t>
            </a:r>
            <a:endParaRPr/>
          </a:p>
        </p:txBody>
      </p:sp>
      <p:sp>
        <p:nvSpPr>
          <p:cNvPr id="279" name="Google Shape;279;p10"/>
          <p:cNvSpPr txBox="1"/>
          <p:nvPr/>
        </p:nvSpPr>
        <p:spPr>
          <a:xfrm>
            <a:off x="6224440" y="4964891"/>
            <a:ext cx="449565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preciso determinar qual será o modelo de receita, como também definir valores para o produto ou serviço.</a:t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1004552" y="112981"/>
            <a:ext cx="1049628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CANVAS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5" name="Google Shape;285;p11"/>
          <p:cNvGraphicFramePr/>
          <p:nvPr/>
        </p:nvGraphicFramePr>
        <p:xfrm>
          <a:off x="1390914" y="13394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127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INQUIETAÇÃO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 O QUE TE FEZ SAIR DA INÉRCIA?)</a:t>
                      </a:r>
                      <a:endParaRPr sz="11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5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6" name="Google Shape;286;p11"/>
          <p:cNvGraphicFramePr/>
          <p:nvPr/>
        </p:nvGraphicFramePr>
        <p:xfrm>
          <a:off x="1390915" y="26079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127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OBJETIVO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 PARA QUE?)</a:t>
                      </a:r>
                      <a:endParaRPr sz="11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5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7" name="Google Shape;287;p11"/>
          <p:cNvGraphicFramePr/>
          <p:nvPr/>
        </p:nvGraphicFramePr>
        <p:xfrm>
          <a:off x="1390915" y="38829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127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INDICADOR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pt-B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COMO MENSURAR MEU OBJETIVO)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5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8" name="Google Shape;288;p11"/>
          <p:cNvGraphicFramePr/>
          <p:nvPr/>
        </p:nvGraphicFramePr>
        <p:xfrm>
          <a:off x="1390916" y="5157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108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 ONDE O INDICADOR</a:t>
                      </a: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PRECISA CHEGAR)</a:t>
                      </a:r>
                      <a:endParaRPr sz="11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5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9" name="Google Shape;289;p11"/>
          <p:cNvGraphicFramePr/>
          <p:nvPr/>
        </p:nvGraphicFramePr>
        <p:xfrm>
          <a:off x="3913026" y="13394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158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PÚBLICO</a:t>
                      </a:r>
                      <a:r>
                        <a:rPr lang="pt-BR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 QUAIS SÃO AS DEMANDAS  INTERESSES E NECESSIDADES DO PÚBLICO ALVO)</a:t>
                      </a:r>
                      <a:endParaRPr sz="11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0" name="Google Shape;290;p11"/>
          <p:cNvGraphicFramePr/>
          <p:nvPr/>
        </p:nvGraphicFramePr>
        <p:xfrm>
          <a:off x="3913027" y="29235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173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TENDÊNCIAS</a:t>
                      </a:r>
                      <a:endParaRPr b="1" sz="1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(QUAIS</a:t>
                      </a: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SÃO AS TENDÊNCIAS DE MERCADO E COMPORTAMENTO)</a:t>
                      </a:r>
                      <a:endParaRPr sz="11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1" name="Google Shape;291;p11"/>
          <p:cNvGraphicFramePr/>
          <p:nvPr/>
        </p:nvGraphicFramePr>
        <p:xfrm>
          <a:off x="3913028" y="46608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158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MERCADO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QUAIS SÃO AS INICIATIVAS SIMILARES? INSPRIRAÇÕES</a:t>
                      </a:r>
                      <a:endParaRPr sz="11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2" name="Google Shape;292;p11"/>
          <p:cNvGraphicFramePr/>
          <p:nvPr/>
        </p:nvGraphicFramePr>
        <p:xfrm>
          <a:off x="6435137" y="1332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106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IDEIAS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 QUE AÇÕES PODEM SER DESENVOLVIDAS?)</a:t>
                      </a:r>
                      <a:endParaRPr sz="11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FE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3" name="Google Shape;293;p11"/>
          <p:cNvGraphicFramePr/>
          <p:nvPr/>
        </p:nvGraphicFramePr>
        <p:xfrm>
          <a:off x="6435131" y="2215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113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AÇÃO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 SELECIONE A MELHOR IDEIA, O QUE SERÁ FEITO)</a:t>
                      </a:r>
                      <a:endParaRPr sz="11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FE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4" name="Google Shape;294;p11"/>
          <p:cNvGraphicFramePr/>
          <p:nvPr/>
        </p:nvGraphicFramePr>
        <p:xfrm>
          <a:off x="9008759" y="13394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158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PADRONIZAÇÃO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(TRANSFORMAR A AÇÃO EM PROCESSO)</a:t>
                      </a:r>
                      <a:endParaRPr sz="11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5" name="Google Shape;295;p11"/>
          <p:cNvGraphicFramePr/>
          <p:nvPr/>
        </p:nvGraphicFramePr>
        <p:xfrm>
          <a:off x="9008759" y="29235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173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COMUNICAÇÃO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COMO A EQUIPE ESTÁ INFORMADA DA AÇÃO/ COMO SERÁ FEITA A DIVULGAÇÃO PARA O PÚBLICO ALVO)</a:t>
                      </a:r>
                      <a:endParaRPr sz="11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6" name="Google Shape;296;p11"/>
          <p:cNvGraphicFramePr/>
          <p:nvPr/>
        </p:nvGraphicFramePr>
        <p:xfrm>
          <a:off x="9008759" y="46608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159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AVALIAÇÃO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 QUAL</a:t>
                      </a: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 RESULTADO DA AÇÃO?)</a:t>
                      </a:r>
                      <a:endParaRPr sz="11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7" name="Google Shape;297;p11"/>
          <p:cNvGraphicFramePr/>
          <p:nvPr/>
        </p:nvGraphicFramePr>
        <p:xfrm>
          <a:off x="1390914" y="9672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25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       </a:t>
                      </a: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IDENTIFICAR</a:t>
                      </a:r>
                      <a:endParaRPr b="1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EC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8" name="Google Shape;298;p11"/>
          <p:cNvGraphicFramePr/>
          <p:nvPr/>
        </p:nvGraphicFramePr>
        <p:xfrm>
          <a:off x="6435137" y="9639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25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             </a:t>
                      </a: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CRIAR</a:t>
                      </a:r>
                      <a:endParaRPr b="1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BA30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9" name="Google Shape;299;p11"/>
          <p:cNvGraphicFramePr/>
          <p:nvPr/>
        </p:nvGraphicFramePr>
        <p:xfrm>
          <a:off x="3913025" y="9736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25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        </a:t>
                      </a: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CONHECER</a:t>
                      </a:r>
                      <a:endParaRPr b="1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D9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0" name="Google Shape;300;p11"/>
          <p:cNvGraphicFramePr/>
          <p:nvPr/>
        </p:nvGraphicFramePr>
        <p:xfrm>
          <a:off x="9008759" y="9736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25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    </a:t>
                      </a: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IMPLEMENTAR</a:t>
                      </a:r>
                      <a:endParaRPr b="1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sp>
        <p:nvSpPr>
          <p:cNvPr id="301" name="Google Shape;301;p11"/>
          <p:cNvSpPr/>
          <p:nvPr/>
        </p:nvSpPr>
        <p:spPr>
          <a:xfrm>
            <a:off x="2071333" y="451535"/>
            <a:ext cx="533416" cy="502491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9881845" y="434509"/>
            <a:ext cx="560244" cy="536544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7219680" y="419632"/>
            <a:ext cx="594552" cy="534394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4574122" y="427443"/>
            <a:ext cx="560241" cy="536544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5" name="Google Shape;305;p11"/>
          <p:cNvGraphicFramePr/>
          <p:nvPr/>
        </p:nvGraphicFramePr>
        <p:xfrm>
          <a:off x="6435132" y="30909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1268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PARCERIAS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 QUEM SÃO OS PARCEIROS-CHAVE PARA EXECUTAR ESSA AÇÃO)</a:t>
                      </a:r>
                      <a:endParaRPr sz="11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FE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6" name="Google Shape;306;p11"/>
          <p:cNvGraphicFramePr/>
          <p:nvPr/>
        </p:nvGraphicFramePr>
        <p:xfrm>
          <a:off x="6435133" y="41341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117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(COMO FAZER ISSO DE FORMA SIMPLES E RÁPIDA?)</a:t>
                      </a:r>
                      <a:endParaRPr sz="11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FE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7" name="Google Shape;307;p11"/>
          <p:cNvGraphicFramePr/>
          <p:nvPr/>
        </p:nvGraphicFramePr>
        <p:xfrm>
          <a:off x="6435133" y="51257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{889B052E-8378-4C0E-9BB8-EE7E81229265}</a:tableStyleId>
              </a:tblPr>
              <a:tblGrid>
                <a:gridCol w="2163650"/>
              </a:tblGrid>
              <a:tr h="1120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INTERAÇÃO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pt-BR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O MEU PÚBLICO GOSTOU DA IDEIA? O QUE POSSO MELHOR?)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FEDE"/>
                    </a:solidFill>
                  </a:tcPr>
                </a:tc>
              </a:tr>
            </a:tbl>
          </a:graphicData>
        </a:graphic>
      </p:graphicFrame>
      <p:cxnSp>
        <p:nvCxnSpPr>
          <p:cNvPr id="308" name="Google Shape;308;p11"/>
          <p:cNvCxnSpPr/>
          <p:nvPr/>
        </p:nvCxnSpPr>
        <p:spPr>
          <a:xfrm>
            <a:off x="5368345" y="742789"/>
            <a:ext cx="167425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9" name="Google Shape;309;p11"/>
          <p:cNvCxnSpPr/>
          <p:nvPr/>
        </p:nvCxnSpPr>
        <p:spPr>
          <a:xfrm>
            <a:off x="7982742" y="742789"/>
            <a:ext cx="167425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0" name="Google Shape;310;p11"/>
          <p:cNvCxnSpPr/>
          <p:nvPr/>
        </p:nvCxnSpPr>
        <p:spPr>
          <a:xfrm>
            <a:off x="2712848" y="742789"/>
            <a:ext cx="1654936" cy="107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1" name="Google Shape;311;p11"/>
          <p:cNvSpPr/>
          <p:nvPr/>
        </p:nvSpPr>
        <p:spPr>
          <a:xfrm>
            <a:off x="957331" y="58911"/>
            <a:ext cx="1049628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CANVAS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</a:pPr>
            <a:r>
              <a:rPr lang="pt-BR"/>
              <a:t>DESIGN SPRINT</a:t>
            </a:r>
            <a:endParaRPr/>
          </a:p>
        </p:txBody>
      </p:sp>
      <p:sp>
        <p:nvSpPr>
          <p:cNvPr id="317" name="Google Shape;317;p12"/>
          <p:cNvSpPr txBox="1"/>
          <p:nvPr>
            <p:ph idx="1" type="subTitle"/>
          </p:nvPr>
        </p:nvSpPr>
        <p:spPr>
          <a:xfrm>
            <a:off x="2409063" y="3825022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pt-BR"/>
              <a:t>O Design Sprint é formado por etapas focando no problema e para a solução de algo específico.</a:t>
            </a:r>
            <a:endParaRPr/>
          </a:p>
        </p:txBody>
      </p:sp>
      <p:pic>
        <p:nvPicPr>
          <p:cNvPr descr="Imagem relacionada" id="318" name="Google Shape;3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415" y="0"/>
            <a:ext cx="1124585" cy="112458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2"/>
          <p:cNvSpPr/>
          <p:nvPr/>
        </p:nvSpPr>
        <p:spPr>
          <a:xfrm>
            <a:off x="8877835" y="3449390"/>
            <a:ext cx="3314165" cy="3058018"/>
          </a:xfrm>
          <a:prstGeom prst="verticalScroll">
            <a:avLst>
              <a:gd fmla="val 12500" name="adj"/>
            </a:avLst>
          </a:prstGeom>
          <a:solidFill>
            <a:srgbClr val="D8D8D8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9346613" y="3825025"/>
            <a:ext cx="2376600" cy="2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Útil para o desenvolvimento e amadurecimento de ideias e identificação de soluções para problemas, permite permitir colocar em prática para que a ideia seja validada. 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3"/>
          <p:cNvGrpSpPr/>
          <p:nvPr/>
        </p:nvGrpSpPr>
        <p:grpSpPr>
          <a:xfrm>
            <a:off x="847493" y="719667"/>
            <a:ext cx="10838984" cy="2580080"/>
            <a:chOff x="0" y="0"/>
            <a:chExt cx="10838984" cy="2580080"/>
          </a:xfrm>
        </p:grpSpPr>
        <p:sp>
          <p:nvSpPr>
            <p:cNvPr id="326" name="Google Shape;326;p13"/>
            <p:cNvSpPr/>
            <p:nvPr/>
          </p:nvSpPr>
          <p:spPr>
            <a:xfrm>
              <a:off x="0" y="0"/>
              <a:ext cx="2580080" cy="2580080"/>
            </a:xfrm>
            <a:prstGeom prst="ellipse">
              <a:avLst/>
            </a:prstGeom>
            <a:solidFill>
              <a:srgbClr val="446E9C">
                <a:alpha val="4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3"/>
            <p:cNvSpPr txBox="1"/>
            <p:nvPr/>
          </p:nvSpPr>
          <p:spPr>
            <a:xfrm>
              <a:off x="377844" y="377844"/>
              <a:ext cx="1824392" cy="1824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141975" spcFirstLastPara="1" rIns="14197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ENTENDER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665"/>
                </a:spcBef>
                <a:spcAft>
                  <a:spcPts val="0"/>
                </a:spcAft>
                <a:buNone/>
              </a:pPr>
              <a:r>
                <a:rPr lang="pt-BR" sz="1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DEFINIR</a:t>
              </a:r>
              <a:endPara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3"/>
            <p:cNvSpPr/>
            <p:nvPr/>
          </p:nvSpPr>
          <p:spPr>
            <a:xfrm>
              <a:off x="2111607" y="0"/>
              <a:ext cx="2580080" cy="2580080"/>
            </a:xfrm>
            <a:prstGeom prst="ellipse">
              <a:avLst/>
            </a:prstGeom>
            <a:solidFill>
              <a:srgbClr val="3F9C7C">
                <a:alpha val="4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3"/>
            <p:cNvSpPr txBox="1"/>
            <p:nvPr/>
          </p:nvSpPr>
          <p:spPr>
            <a:xfrm>
              <a:off x="2489451" y="377844"/>
              <a:ext cx="1824392" cy="1824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141975" spcFirstLastPara="1" rIns="14197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DIVERGIR</a:t>
              </a:r>
              <a:endPara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3"/>
            <p:cNvSpPr/>
            <p:nvPr/>
          </p:nvSpPr>
          <p:spPr>
            <a:xfrm>
              <a:off x="4198784" y="0"/>
              <a:ext cx="2580080" cy="2580080"/>
            </a:xfrm>
            <a:prstGeom prst="ellipse">
              <a:avLst/>
            </a:prstGeom>
            <a:solidFill>
              <a:srgbClr val="4E9E3A">
                <a:alpha val="4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3"/>
            <p:cNvSpPr txBox="1"/>
            <p:nvPr/>
          </p:nvSpPr>
          <p:spPr>
            <a:xfrm>
              <a:off x="4576628" y="377844"/>
              <a:ext cx="1824392" cy="1824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141975" spcFirstLastPara="1" rIns="14197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DECIDIR</a:t>
              </a:r>
              <a:endPara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3"/>
            <p:cNvSpPr/>
            <p:nvPr/>
          </p:nvSpPr>
          <p:spPr>
            <a:xfrm>
              <a:off x="6133885" y="0"/>
              <a:ext cx="2580080" cy="2580080"/>
            </a:xfrm>
            <a:prstGeom prst="ellipse">
              <a:avLst/>
            </a:prstGeom>
            <a:solidFill>
              <a:srgbClr val="9F9936">
                <a:alpha val="4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3"/>
            <p:cNvSpPr txBox="1"/>
            <p:nvPr/>
          </p:nvSpPr>
          <p:spPr>
            <a:xfrm>
              <a:off x="6511729" y="377844"/>
              <a:ext cx="1824392" cy="1824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141975" spcFirstLastPara="1" rIns="14197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PROTOTIPAR</a:t>
              </a:r>
              <a:endPara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3"/>
            <p:cNvSpPr/>
            <p:nvPr/>
          </p:nvSpPr>
          <p:spPr>
            <a:xfrm>
              <a:off x="8258904" y="0"/>
              <a:ext cx="2580080" cy="2580080"/>
            </a:xfrm>
            <a:prstGeom prst="ellipse">
              <a:avLst/>
            </a:prstGeom>
            <a:solidFill>
              <a:srgbClr val="A03B32">
                <a:alpha val="4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3"/>
            <p:cNvSpPr txBox="1"/>
            <p:nvPr/>
          </p:nvSpPr>
          <p:spPr>
            <a:xfrm>
              <a:off x="8636748" y="377844"/>
              <a:ext cx="1824392" cy="1824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141975" spcFirstLastPara="1" rIns="14197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VALIDAR</a:t>
              </a:r>
              <a:endPara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13"/>
          <p:cNvGrpSpPr/>
          <p:nvPr/>
        </p:nvGrpSpPr>
        <p:grpSpPr>
          <a:xfrm>
            <a:off x="848797" y="3169306"/>
            <a:ext cx="10680259" cy="2542919"/>
            <a:chOff x="1304" y="269989"/>
            <a:chExt cx="10680259" cy="2542919"/>
          </a:xfrm>
        </p:grpSpPr>
        <p:sp>
          <p:nvSpPr>
            <p:cNvPr id="337" name="Google Shape;337;p13"/>
            <p:cNvSpPr/>
            <p:nvPr/>
          </p:nvSpPr>
          <p:spPr>
            <a:xfrm>
              <a:off x="1304" y="269989"/>
              <a:ext cx="2542919" cy="2542919"/>
            </a:xfrm>
            <a:prstGeom prst="ellipse">
              <a:avLst/>
            </a:prstGeom>
            <a:solidFill>
              <a:srgbClr val="446E9C">
                <a:alpha val="4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3"/>
            <p:cNvSpPr txBox="1"/>
            <p:nvPr/>
          </p:nvSpPr>
          <p:spPr>
            <a:xfrm>
              <a:off x="373706" y="642391"/>
              <a:ext cx="1798115" cy="1798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139925" spcFirstLastPara="1" rIns="1399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Identificar e compreender o problema</a:t>
              </a:r>
              <a:endPara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3"/>
            <p:cNvSpPr/>
            <p:nvPr/>
          </p:nvSpPr>
          <p:spPr>
            <a:xfrm>
              <a:off x="2035639" y="269989"/>
              <a:ext cx="2542919" cy="2542919"/>
            </a:xfrm>
            <a:prstGeom prst="ellipse">
              <a:avLst/>
            </a:prstGeom>
            <a:solidFill>
              <a:srgbClr val="3F9C7C">
                <a:alpha val="4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3"/>
            <p:cNvSpPr txBox="1"/>
            <p:nvPr/>
          </p:nvSpPr>
          <p:spPr>
            <a:xfrm>
              <a:off x="2408041" y="642391"/>
              <a:ext cx="1798115" cy="1798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139925" spcFirstLastPara="1" rIns="1399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Explorar as ideias</a:t>
              </a:r>
              <a:endPara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4069974" y="269989"/>
              <a:ext cx="2542919" cy="2542919"/>
            </a:xfrm>
            <a:prstGeom prst="ellipse">
              <a:avLst/>
            </a:prstGeom>
            <a:solidFill>
              <a:srgbClr val="4E9E3A">
                <a:alpha val="4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3"/>
            <p:cNvSpPr txBox="1"/>
            <p:nvPr/>
          </p:nvSpPr>
          <p:spPr>
            <a:xfrm>
              <a:off x="4442376" y="642391"/>
              <a:ext cx="1798115" cy="1798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139925" spcFirstLastPara="1" rIns="1399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Decidir a melhor ideia e solução para o problema</a:t>
              </a:r>
              <a:endPara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3"/>
            <p:cNvSpPr/>
            <p:nvPr/>
          </p:nvSpPr>
          <p:spPr>
            <a:xfrm>
              <a:off x="6104309" y="269989"/>
              <a:ext cx="2542919" cy="2542919"/>
            </a:xfrm>
            <a:prstGeom prst="ellipse">
              <a:avLst/>
            </a:prstGeom>
            <a:solidFill>
              <a:srgbClr val="9F9936">
                <a:alpha val="4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3"/>
            <p:cNvSpPr txBox="1"/>
            <p:nvPr/>
          </p:nvSpPr>
          <p:spPr>
            <a:xfrm>
              <a:off x="6476711" y="642391"/>
              <a:ext cx="1798115" cy="1798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139925" spcFirstLastPara="1" rIns="1399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Como aplicar a solução? </a:t>
              </a:r>
              <a:endPara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3"/>
            <p:cNvSpPr/>
            <p:nvPr/>
          </p:nvSpPr>
          <p:spPr>
            <a:xfrm>
              <a:off x="8138644" y="269989"/>
              <a:ext cx="2542919" cy="2542919"/>
            </a:xfrm>
            <a:prstGeom prst="ellipse">
              <a:avLst/>
            </a:prstGeom>
            <a:solidFill>
              <a:srgbClr val="A03B32">
                <a:alpha val="4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3"/>
            <p:cNvSpPr txBox="1"/>
            <p:nvPr/>
          </p:nvSpPr>
          <p:spPr>
            <a:xfrm>
              <a:off x="8511046" y="642391"/>
              <a:ext cx="1798115" cy="1798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139925" spcFirstLastPara="1" rIns="1399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Apontar os pontos positivos e negativos, validando o que pode ser melhorado.</a:t>
              </a:r>
              <a:endPara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</a:pPr>
            <a:r>
              <a:rPr lang="pt-BR"/>
              <a:t>DESIGN THINKING</a:t>
            </a:r>
            <a:endParaRPr/>
          </a:p>
        </p:txBody>
      </p:sp>
      <p:sp>
        <p:nvSpPr>
          <p:cNvPr id="352" name="Google Shape;352;p14"/>
          <p:cNvSpPr txBox="1"/>
          <p:nvPr>
            <p:ph idx="1" type="subTitle"/>
          </p:nvPr>
        </p:nvSpPr>
        <p:spPr>
          <a:xfrm>
            <a:off x="2370426" y="3760628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pt-BR"/>
              <a:t>Design Thinking é ferramenta para abordar de ideias e insights  para abordar os problemas, informações, análise e propostas de soluções.</a:t>
            </a:r>
            <a:endParaRPr/>
          </a:p>
        </p:txBody>
      </p:sp>
      <p:pic>
        <p:nvPicPr>
          <p:cNvPr descr="Imagem relacionada" id="353" name="Google Shape;3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415" y="0"/>
            <a:ext cx="1124585" cy="112458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4"/>
          <p:cNvSpPr/>
          <p:nvPr/>
        </p:nvSpPr>
        <p:spPr>
          <a:xfrm>
            <a:off x="8877835" y="3449390"/>
            <a:ext cx="3314165" cy="3058018"/>
          </a:xfrm>
          <a:prstGeom prst="verticalScroll">
            <a:avLst>
              <a:gd fmla="val 12500" name="adj"/>
            </a:avLst>
          </a:prstGeom>
          <a:solidFill>
            <a:srgbClr val="D8D8D8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4"/>
          <p:cNvSpPr txBox="1"/>
          <p:nvPr/>
        </p:nvSpPr>
        <p:spPr>
          <a:xfrm>
            <a:off x="9344926" y="3860525"/>
            <a:ext cx="2376600" cy="27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Útil na busca de soluções para problemas e para geração de novas ideias. Pode ser empregada na gestão de empresas, em diversos setores, bem como em modelos de negócios que buscam melhorias de produtos e processos.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relacionada" id="360" name="Google Shape;3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415" y="0"/>
            <a:ext cx="1124585" cy="11245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1" name="Google Shape;361;p15"/>
          <p:cNvGrpSpPr/>
          <p:nvPr/>
        </p:nvGrpSpPr>
        <p:grpSpPr>
          <a:xfrm>
            <a:off x="-4702671" y="-301942"/>
            <a:ext cx="15293273" cy="7126968"/>
            <a:chOff x="-5668586" y="-995850"/>
            <a:chExt cx="15293273" cy="7126968"/>
          </a:xfrm>
        </p:grpSpPr>
        <p:sp>
          <p:nvSpPr>
            <p:cNvPr id="362" name="Google Shape;362;p15"/>
            <p:cNvSpPr/>
            <p:nvPr/>
          </p:nvSpPr>
          <p:spPr>
            <a:xfrm>
              <a:off x="-5668586" y="-995850"/>
              <a:ext cx="7126968" cy="7126968"/>
            </a:xfrm>
            <a:prstGeom prst="blockArc">
              <a:avLst>
                <a:gd fmla="val 18900000" name="adj1"/>
                <a:gd fmla="val 2700000" name="adj2"/>
                <a:gd fmla="val 303" name="adj3"/>
              </a:avLst>
            </a:prstGeom>
            <a:noFill/>
            <a:ln cap="flat" cmpd="sng" w="15875">
              <a:solidFill>
                <a:srgbClr val="95A7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1057960" y="330817"/>
              <a:ext cx="8527295" cy="662057"/>
            </a:xfrm>
            <a:prstGeom prst="rect">
              <a:avLst/>
            </a:prstGeom>
            <a:solidFill>
              <a:srgbClr val="829927">
                <a:alpha val="8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5"/>
            <p:cNvSpPr txBox="1"/>
            <p:nvPr/>
          </p:nvSpPr>
          <p:spPr>
            <a:xfrm>
              <a:off x="1057960" y="330817"/>
              <a:ext cx="8527295" cy="66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255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lang="pt-B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Conhecer as necessidades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-34845" y="289426"/>
              <a:ext cx="1702663" cy="781269"/>
            </a:xfrm>
            <a:prstGeom prst="ellipse">
              <a:avLst/>
            </a:prstGeom>
            <a:solidFill>
              <a:schemeClr val="lt1"/>
            </a:solidFill>
            <a:ln cap="flat" cmpd="sng" w="15875">
              <a:solidFill>
                <a:srgbClr val="829927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1492940" y="1323586"/>
              <a:ext cx="8131747" cy="662057"/>
            </a:xfrm>
            <a:prstGeom prst="rect">
              <a:avLst/>
            </a:prstGeom>
            <a:solidFill>
              <a:srgbClr val="829927">
                <a:alpha val="80000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5"/>
            <p:cNvSpPr txBox="1"/>
            <p:nvPr/>
          </p:nvSpPr>
          <p:spPr>
            <a:xfrm>
              <a:off x="1492940" y="1323586"/>
              <a:ext cx="8131747" cy="66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255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Interpretar e delimitar os problemas em novas possibilidades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3356" y="1253304"/>
              <a:ext cx="1799713" cy="874056"/>
            </a:xfrm>
            <a:prstGeom prst="ellipse">
              <a:avLst/>
            </a:prstGeom>
            <a:solidFill>
              <a:schemeClr val="lt1"/>
            </a:solidFill>
            <a:ln cap="flat" cmpd="sng" w="15875">
              <a:solidFill>
                <a:srgbClr val="829927">
                  <a:alpha val="8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1667570" y="2316355"/>
              <a:ext cx="7928094" cy="662057"/>
            </a:xfrm>
            <a:prstGeom prst="rect">
              <a:avLst/>
            </a:prstGeom>
            <a:solidFill>
              <a:srgbClr val="829927">
                <a:alpha val="6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5"/>
            <p:cNvSpPr txBox="1"/>
            <p:nvPr/>
          </p:nvSpPr>
          <p:spPr>
            <a:xfrm>
              <a:off x="1667570" y="2316355"/>
              <a:ext cx="7928094" cy="66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255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Criar ideias sobre as possíveis soluções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3351" y="2293075"/>
              <a:ext cx="1820932" cy="846639"/>
            </a:xfrm>
            <a:prstGeom prst="ellipse">
              <a:avLst/>
            </a:prstGeom>
            <a:solidFill>
              <a:schemeClr val="lt1"/>
            </a:solidFill>
            <a:ln cap="flat" cmpd="sng" w="15875">
              <a:solidFill>
                <a:srgbClr val="829927">
                  <a:alpha val="6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1507451" y="3309124"/>
              <a:ext cx="8102725" cy="662057"/>
            </a:xfrm>
            <a:prstGeom prst="rect">
              <a:avLst/>
            </a:prstGeom>
            <a:solidFill>
              <a:srgbClr val="829927">
                <a:alpha val="60000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5"/>
            <p:cNvSpPr txBox="1"/>
            <p:nvPr/>
          </p:nvSpPr>
          <p:spPr>
            <a:xfrm>
              <a:off x="1507451" y="3309124"/>
              <a:ext cx="8102725" cy="66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255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pt-B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Sintetizar as possíveis soluções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28009" y="3303765"/>
              <a:ext cx="1842779" cy="793269"/>
            </a:xfrm>
            <a:prstGeom prst="ellipse">
              <a:avLst/>
            </a:prstGeom>
            <a:solidFill>
              <a:schemeClr val="lt1"/>
            </a:solidFill>
            <a:ln cap="flat" cmpd="sng" w="15875">
              <a:solidFill>
                <a:srgbClr val="829927">
                  <a:alpha val="6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1083729" y="4301893"/>
              <a:ext cx="8475757" cy="662057"/>
            </a:xfrm>
            <a:prstGeom prst="rect">
              <a:avLst/>
            </a:prstGeom>
            <a:solidFill>
              <a:srgbClr val="829927">
                <a:alpha val="4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5"/>
            <p:cNvSpPr txBox="1"/>
            <p:nvPr/>
          </p:nvSpPr>
          <p:spPr>
            <a:xfrm>
              <a:off x="1083729" y="4301893"/>
              <a:ext cx="8475757" cy="66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255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  Apontar as propostas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3" y="4204107"/>
              <a:ext cx="1716070" cy="782784"/>
            </a:xfrm>
            <a:prstGeom prst="ellipse">
              <a:avLst/>
            </a:prstGeom>
            <a:solidFill>
              <a:schemeClr val="lt1"/>
            </a:solidFill>
            <a:ln cap="flat" cmpd="sng" w="15875">
              <a:solidFill>
                <a:srgbClr val="829927">
                  <a:alpha val="4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p15"/>
          <p:cNvSpPr txBox="1"/>
          <p:nvPr/>
        </p:nvSpPr>
        <p:spPr>
          <a:xfrm>
            <a:off x="875763" y="1214737"/>
            <a:ext cx="17128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DESCOBERTA</a:t>
            </a:r>
            <a:endParaRPr/>
          </a:p>
        </p:txBody>
      </p:sp>
      <p:sp>
        <p:nvSpPr>
          <p:cNvPr id="379" name="Google Shape;379;p15"/>
          <p:cNvSpPr txBox="1"/>
          <p:nvPr/>
        </p:nvSpPr>
        <p:spPr>
          <a:xfrm>
            <a:off x="965915" y="2189410"/>
            <a:ext cx="186743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1313753" y="3252776"/>
            <a:ext cx="10134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IDEAÇÃO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5"/>
          <p:cNvSpPr txBox="1"/>
          <p:nvPr/>
        </p:nvSpPr>
        <p:spPr>
          <a:xfrm>
            <a:off x="965915" y="4227542"/>
            <a:ext cx="18689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EXPERIMENTAÇÃO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5"/>
          <p:cNvSpPr txBox="1"/>
          <p:nvPr/>
        </p:nvSpPr>
        <p:spPr>
          <a:xfrm>
            <a:off x="1166277" y="5173153"/>
            <a:ext cx="12025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EVOLUÇÃO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relacionada" id="387" name="Google Shape;38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415" y="0"/>
            <a:ext cx="1124585" cy="11245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8" name="Google Shape;388;p16"/>
          <p:cNvGrpSpPr/>
          <p:nvPr/>
        </p:nvGrpSpPr>
        <p:grpSpPr>
          <a:xfrm>
            <a:off x="965915" y="693908"/>
            <a:ext cx="9583139" cy="5291148"/>
            <a:chOff x="0" y="0"/>
            <a:chExt cx="9583139" cy="5291148"/>
          </a:xfrm>
        </p:grpSpPr>
        <p:sp>
          <p:nvSpPr>
            <p:cNvPr id="389" name="Google Shape;389;p16"/>
            <p:cNvSpPr/>
            <p:nvPr/>
          </p:nvSpPr>
          <p:spPr>
            <a:xfrm>
              <a:off x="0" y="0"/>
              <a:ext cx="9583139" cy="979842"/>
            </a:xfrm>
            <a:prstGeom prst="roundRect">
              <a:avLst>
                <a:gd fmla="val 10000" name="adj"/>
              </a:avLst>
            </a:prstGeom>
            <a:solidFill>
              <a:srgbClr val="39976D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6"/>
            <p:cNvSpPr txBox="1"/>
            <p:nvPr/>
          </p:nvSpPr>
          <p:spPr>
            <a:xfrm>
              <a:off x="2014612" y="0"/>
              <a:ext cx="7568526" cy="9798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Conhecer as necessidades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6"/>
            <p:cNvSpPr/>
            <p:nvPr/>
          </p:nvSpPr>
          <p:spPr>
            <a:xfrm>
              <a:off x="97984" y="97984"/>
              <a:ext cx="1916627" cy="783873"/>
            </a:xfrm>
            <a:prstGeom prst="roundRect">
              <a:avLst>
                <a:gd fmla="val 10000" name="adj"/>
              </a:avLst>
            </a:prstGeom>
            <a:solidFill>
              <a:srgbClr val="BED3C7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6"/>
            <p:cNvSpPr/>
            <p:nvPr/>
          </p:nvSpPr>
          <p:spPr>
            <a:xfrm>
              <a:off x="0" y="1077826"/>
              <a:ext cx="9583139" cy="979842"/>
            </a:xfrm>
            <a:prstGeom prst="roundRect">
              <a:avLst>
                <a:gd fmla="val 10000" name="adj"/>
              </a:avLst>
            </a:prstGeom>
            <a:solidFill>
              <a:srgbClr val="446E9C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6"/>
            <p:cNvSpPr txBox="1"/>
            <p:nvPr/>
          </p:nvSpPr>
          <p:spPr>
            <a:xfrm>
              <a:off x="2014612" y="1077826"/>
              <a:ext cx="7568526" cy="9798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Interpretar e delimitar os problemas em novas possibilidades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97984" y="1175810"/>
              <a:ext cx="1916627" cy="783873"/>
            </a:xfrm>
            <a:prstGeom prst="roundRect">
              <a:avLst>
                <a:gd fmla="val 10000" name="adj"/>
              </a:avLst>
            </a:prstGeom>
            <a:solidFill>
              <a:srgbClr val="BFC7D5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0" y="2155653"/>
              <a:ext cx="9583139" cy="979842"/>
            </a:xfrm>
            <a:prstGeom prst="roundRect">
              <a:avLst>
                <a:gd fmla="val 10000" name="adj"/>
              </a:avLst>
            </a:prstGeom>
            <a:solidFill>
              <a:srgbClr val="A23930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6"/>
            <p:cNvSpPr txBox="1"/>
            <p:nvPr/>
          </p:nvSpPr>
          <p:spPr>
            <a:xfrm>
              <a:off x="2014612" y="2155653"/>
              <a:ext cx="7568526" cy="9798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Criar ideias sobre as possíveis soluções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97984" y="2253637"/>
              <a:ext cx="1916627" cy="783873"/>
            </a:xfrm>
            <a:prstGeom prst="roundRect">
              <a:avLst>
                <a:gd fmla="val 10000" name="adj"/>
              </a:avLst>
            </a:prstGeom>
            <a:solidFill>
              <a:srgbClr val="D6BDBC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0" y="3233479"/>
              <a:ext cx="9583139" cy="979842"/>
            </a:xfrm>
            <a:prstGeom prst="roundRect">
              <a:avLst>
                <a:gd fmla="val 10000" name="adj"/>
              </a:avLst>
            </a:prstGeom>
            <a:solidFill>
              <a:srgbClr val="D77727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6"/>
            <p:cNvSpPr txBox="1"/>
            <p:nvPr/>
          </p:nvSpPr>
          <p:spPr>
            <a:xfrm>
              <a:off x="2014612" y="3233479"/>
              <a:ext cx="7568526" cy="9798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Sintetizar as possíveis soluções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97984" y="3331463"/>
              <a:ext cx="1916627" cy="783873"/>
            </a:xfrm>
            <a:prstGeom prst="roundRect">
              <a:avLst>
                <a:gd fmla="val 10000" name="adj"/>
              </a:avLst>
            </a:prstGeom>
            <a:solidFill>
              <a:srgbClr val="EDC9BC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0" y="4311306"/>
              <a:ext cx="9583139" cy="979842"/>
            </a:xfrm>
            <a:prstGeom prst="roundRect">
              <a:avLst>
                <a:gd fmla="val 10000" name="adj"/>
              </a:avLst>
            </a:prstGeom>
            <a:solidFill>
              <a:srgbClr val="DDB33E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6"/>
            <p:cNvSpPr txBox="1"/>
            <p:nvPr/>
          </p:nvSpPr>
          <p:spPr>
            <a:xfrm>
              <a:off x="2014612" y="4311306"/>
              <a:ext cx="7568526" cy="9798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Apresentar projetos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97984" y="4409290"/>
              <a:ext cx="1916627" cy="783873"/>
            </a:xfrm>
            <a:prstGeom prst="roundRect">
              <a:avLst>
                <a:gd fmla="val 10000" name="adj"/>
              </a:avLst>
            </a:prstGeom>
            <a:solidFill>
              <a:srgbClr val="EFDDBE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4" name="Google Shape;404;p16"/>
          <p:cNvSpPr txBox="1"/>
          <p:nvPr/>
        </p:nvSpPr>
        <p:spPr>
          <a:xfrm>
            <a:off x="1166277" y="782294"/>
            <a:ext cx="17128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DESCOBERTA</a:t>
            </a:r>
            <a:endParaRPr/>
          </a:p>
        </p:txBody>
      </p:sp>
      <p:sp>
        <p:nvSpPr>
          <p:cNvPr id="405" name="Google Shape;405;p16"/>
          <p:cNvSpPr txBox="1"/>
          <p:nvPr/>
        </p:nvSpPr>
        <p:spPr>
          <a:xfrm>
            <a:off x="1166277" y="1879036"/>
            <a:ext cx="186743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6"/>
          <p:cNvSpPr txBox="1"/>
          <p:nvPr/>
        </p:nvSpPr>
        <p:spPr>
          <a:xfrm>
            <a:off x="1355431" y="2960388"/>
            <a:ext cx="10134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IDEAÇÃO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6"/>
          <p:cNvSpPr txBox="1"/>
          <p:nvPr/>
        </p:nvSpPr>
        <p:spPr>
          <a:xfrm>
            <a:off x="1208492" y="4041740"/>
            <a:ext cx="16139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PROTOTIPAÇÃO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6"/>
          <p:cNvSpPr txBox="1"/>
          <p:nvPr/>
        </p:nvSpPr>
        <p:spPr>
          <a:xfrm>
            <a:off x="1511202" y="5123092"/>
            <a:ext cx="10230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CRIAÇÃO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17"/>
          <p:cNvGrpSpPr/>
          <p:nvPr/>
        </p:nvGrpSpPr>
        <p:grpSpPr>
          <a:xfrm>
            <a:off x="2395470" y="3577437"/>
            <a:ext cx="7173532" cy="1704064"/>
            <a:chOff x="0" y="0"/>
            <a:chExt cx="7173532" cy="1704064"/>
          </a:xfrm>
        </p:grpSpPr>
        <p:sp>
          <p:nvSpPr>
            <p:cNvPr id="414" name="Google Shape;414;p17"/>
            <p:cNvSpPr/>
            <p:nvPr/>
          </p:nvSpPr>
          <p:spPr>
            <a:xfrm>
              <a:off x="0" y="0"/>
              <a:ext cx="1704064" cy="1704064"/>
            </a:xfrm>
            <a:prstGeom prst="ellipse">
              <a:avLst/>
            </a:prstGeom>
            <a:solidFill>
              <a:srgbClr val="446E9C">
                <a:alpha val="4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7"/>
            <p:cNvSpPr txBox="1"/>
            <p:nvPr/>
          </p:nvSpPr>
          <p:spPr>
            <a:xfrm>
              <a:off x="249554" y="249554"/>
              <a:ext cx="1204956" cy="1204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50" lIns="93775" spcFirstLastPara="1" rIns="93775" wrap="square" tIns="13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SIMPLICIDADE</a:t>
              </a: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7"/>
            <p:cNvSpPr/>
            <p:nvPr/>
          </p:nvSpPr>
          <p:spPr>
            <a:xfrm>
              <a:off x="1301132" y="0"/>
              <a:ext cx="1861758" cy="1704064"/>
            </a:xfrm>
            <a:prstGeom prst="ellipse">
              <a:avLst/>
            </a:prstGeom>
            <a:solidFill>
              <a:srgbClr val="3F9C7C">
                <a:alpha val="4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7"/>
            <p:cNvSpPr txBox="1"/>
            <p:nvPr/>
          </p:nvSpPr>
          <p:spPr>
            <a:xfrm>
              <a:off x="1573780" y="249554"/>
              <a:ext cx="1316462" cy="1204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50" lIns="93775" spcFirstLastPara="1" rIns="93775" wrap="square" tIns="13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COMUNICAÇÃO</a:t>
              </a: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7"/>
            <p:cNvSpPr/>
            <p:nvPr/>
          </p:nvSpPr>
          <p:spPr>
            <a:xfrm>
              <a:off x="2873114" y="0"/>
              <a:ext cx="1704064" cy="1704064"/>
            </a:xfrm>
            <a:prstGeom prst="ellipse">
              <a:avLst/>
            </a:prstGeom>
            <a:solidFill>
              <a:srgbClr val="4E9E3A">
                <a:alpha val="4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7"/>
            <p:cNvSpPr txBox="1"/>
            <p:nvPr/>
          </p:nvSpPr>
          <p:spPr>
            <a:xfrm>
              <a:off x="3122668" y="249554"/>
              <a:ext cx="1204956" cy="1204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50" lIns="93775" spcFirstLastPara="1" rIns="93775" wrap="square" tIns="13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RESPEITO</a:t>
              </a: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4277750" y="0"/>
              <a:ext cx="1704064" cy="1704064"/>
            </a:xfrm>
            <a:prstGeom prst="ellipse">
              <a:avLst/>
            </a:prstGeom>
            <a:solidFill>
              <a:srgbClr val="9F9936">
                <a:alpha val="4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7"/>
            <p:cNvSpPr txBox="1"/>
            <p:nvPr/>
          </p:nvSpPr>
          <p:spPr>
            <a:xfrm>
              <a:off x="4527304" y="249554"/>
              <a:ext cx="1204956" cy="1204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50" lIns="93775" spcFirstLastPara="1" rIns="93775" wrap="square" tIns="13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CORAGEM</a:t>
              </a: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5611144" y="0"/>
              <a:ext cx="1562388" cy="1704064"/>
            </a:xfrm>
            <a:prstGeom prst="ellipse">
              <a:avLst/>
            </a:prstGeom>
            <a:solidFill>
              <a:srgbClr val="A03B32">
                <a:alpha val="49803"/>
              </a:srgbClr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7"/>
            <p:cNvSpPr txBox="1"/>
            <p:nvPr/>
          </p:nvSpPr>
          <p:spPr>
            <a:xfrm>
              <a:off x="5839950" y="249554"/>
              <a:ext cx="1104776" cy="1204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50" lIns="93775" spcFirstLastPara="1" rIns="93775" wrap="square" tIns="13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FEEDBACK</a:t>
              </a: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" name="Google Shape;424;p17"/>
          <p:cNvSpPr txBox="1"/>
          <p:nvPr>
            <p:ph type="ctrTitle"/>
          </p:nvPr>
        </p:nvSpPr>
        <p:spPr>
          <a:xfrm>
            <a:off x="2795429" y="1753484"/>
            <a:ext cx="6773574" cy="12662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200"/>
              <a:buFont typeface="Arial"/>
              <a:buNone/>
            </a:pPr>
            <a:r>
              <a:rPr lang="pt-BR" sz="5200"/>
              <a:t>EXTREME PROGRAMMING (XP)</a:t>
            </a:r>
            <a:endParaRPr sz="5200"/>
          </a:p>
        </p:txBody>
      </p:sp>
      <p:sp>
        <p:nvSpPr>
          <p:cNvPr id="425" name="Google Shape;425;p17"/>
          <p:cNvSpPr txBox="1"/>
          <p:nvPr>
            <p:ph idx="1" type="subTitle"/>
          </p:nvPr>
        </p:nvSpPr>
        <p:spPr>
          <a:xfrm>
            <a:off x="2894167" y="2891708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pt-BR" sz="2000"/>
              <a:t>No XP tem-se 5 valores em que ela se baseia, para guiar o desenvolvimento do projeto, são eles:</a:t>
            </a:r>
            <a:endParaRPr/>
          </a:p>
        </p:txBody>
      </p:sp>
      <p:pic>
        <p:nvPicPr>
          <p:cNvPr descr="Imagem relacionada" id="426" name="Google Shape;4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415" y="0"/>
            <a:ext cx="1124585" cy="112458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7"/>
          <p:cNvSpPr/>
          <p:nvPr/>
        </p:nvSpPr>
        <p:spPr>
          <a:xfrm>
            <a:off x="8937938" y="3449390"/>
            <a:ext cx="3254100" cy="3028800"/>
          </a:xfrm>
          <a:prstGeom prst="verticalScroll">
            <a:avLst>
              <a:gd fmla="val 12500" name="adj"/>
            </a:avLst>
          </a:prstGeom>
          <a:solidFill>
            <a:srgbClr val="D8D8D8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7"/>
          <p:cNvSpPr txBox="1"/>
          <p:nvPr/>
        </p:nvSpPr>
        <p:spPr>
          <a:xfrm>
            <a:off x="9344925" y="3860525"/>
            <a:ext cx="2391900" cy="2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Ferramenta de gestão para obter resultados com qualidade. Proporciona engajamento e feedback constante. Usado como ferramenta de gestão estratégica. e na introdução de novas tecnologias e softwares.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8"/>
          <p:cNvSpPr/>
          <p:nvPr/>
        </p:nvSpPr>
        <p:spPr>
          <a:xfrm>
            <a:off x="2543712" y="710014"/>
            <a:ext cx="7181850" cy="466725"/>
          </a:xfrm>
          <a:prstGeom prst="roundRect">
            <a:avLst>
              <a:gd fmla="val 16667" name="adj"/>
            </a:avLst>
          </a:prstGeom>
          <a:solidFill>
            <a:srgbClr val="86A9CB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 PRÁTICAS DO XP PARA PROJETOS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1938223" y="1855471"/>
            <a:ext cx="8392828" cy="3696238"/>
          </a:xfrm>
          <a:prstGeom prst="ellipse">
            <a:avLst/>
          </a:prstGeom>
          <a:solidFill>
            <a:schemeClr val="l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5340873" y="1360271"/>
            <a:ext cx="1466850" cy="1190625"/>
          </a:xfrm>
          <a:prstGeom prst="ellipse">
            <a:avLst/>
          </a:prstGeom>
          <a:solidFill>
            <a:srgbClr val="86A9CB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7189633" y="1532131"/>
            <a:ext cx="1381125" cy="1162050"/>
          </a:xfrm>
          <a:prstGeom prst="ellipse">
            <a:avLst/>
          </a:prstGeom>
          <a:solidFill>
            <a:srgbClr val="AEC4DC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8608186" y="2113156"/>
            <a:ext cx="1457325" cy="1228725"/>
          </a:xfrm>
          <a:prstGeom prst="ellipse">
            <a:avLst/>
          </a:prstGeom>
          <a:solidFill>
            <a:srgbClr val="D6E2ED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9450476" y="3316217"/>
            <a:ext cx="1304925" cy="1143000"/>
          </a:xfrm>
          <a:prstGeom prst="ellipse">
            <a:avLst/>
          </a:prstGeom>
          <a:solidFill>
            <a:srgbClr val="86A9CB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8608186" y="4420721"/>
            <a:ext cx="1304925" cy="1143000"/>
          </a:xfrm>
          <a:prstGeom prst="ellipse">
            <a:avLst/>
          </a:prstGeom>
          <a:solidFill>
            <a:srgbClr val="AEC4DC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7189004" y="5041374"/>
            <a:ext cx="1371600" cy="1133475"/>
          </a:xfrm>
          <a:prstGeom prst="ellipse">
            <a:avLst/>
          </a:prstGeom>
          <a:solidFill>
            <a:srgbClr val="D6E2ED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5458362" y="5041374"/>
            <a:ext cx="1409700" cy="1190625"/>
          </a:xfrm>
          <a:prstGeom prst="ellipse">
            <a:avLst/>
          </a:prstGeom>
          <a:solidFill>
            <a:srgbClr val="86A9CB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3697733" y="4801197"/>
            <a:ext cx="1466850" cy="1295400"/>
          </a:xfrm>
          <a:prstGeom prst="ellipse">
            <a:avLst/>
          </a:prstGeom>
          <a:solidFill>
            <a:srgbClr val="AEC4DC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1970833" y="4348759"/>
            <a:ext cx="1428750" cy="1181100"/>
          </a:xfrm>
          <a:prstGeom prst="ellipse">
            <a:avLst/>
          </a:prstGeom>
          <a:solidFill>
            <a:srgbClr val="D6E2ED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1011835" y="3121813"/>
            <a:ext cx="1304925" cy="1143000"/>
          </a:xfrm>
          <a:prstGeom prst="ellipse">
            <a:avLst/>
          </a:prstGeom>
          <a:solidFill>
            <a:srgbClr val="86A9CB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1991741" y="1846737"/>
            <a:ext cx="1304925" cy="1143000"/>
          </a:xfrm>
          <a:prstGeom prst="ellipse">
            <a:avLst/>
          </a:prstGeom>
          <a:solidFill>
            <a:srgbClr val="AEC4DC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3579228" y="1506827"/>
            <a:ext cx="1500413" cy="1187353"/>
          </a:xfrm>
          <a:prstGeom prst="ellipse">
            <a:avLst/>
          </a:prstGeom>
          <a:solidFill>
            <a:srgbClr val="D6E2ED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5947601" y="2279526"/>
            <a:ext cx="399741" cy="447675"/>
          </a:xfrm>
          <a:prstGeom prst="dodecagon">
            <a:avLst/>
          </a:prstGeom>
          <a:solidFill>
            <a:schemeClr val="l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7541148" y="2515961"/>
            <a:ext cx="491535" cy="447675"/>
          </a:xfrm>
          <a:prstGeom prst="dodecagon">
            <a:avLst/>
          </a:prstGeom>
          <a:solidFill>
            <a:schemeClr val="l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8608185" y="2963636"/>
            <a:ext cx="414695" cy="447675"/>
          </a:xfrm>
          <a:prstGeom prst="dodecagon">
            <a:avLst/>
          </a:prstGeom>
          <a:solidFill>
            <a:schemeClr val="l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9172585" y="3657463"/>
            <a:ext cx="450013" cy="447675"/>
          </a:xfrm>
          <a:prstGeom prst="dodecagon">
            <a:avLst/>
          </a:prstGeom>
          <a:solidFill>
            <a:schemeClr val="l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8560604" y="4361396"/>
            <a:ext cx="462277" cy="447675"/>
          </a:xfrm>
          <a:prstGeom prst="dodecagon">
            <a:avLst/>
          </a:prstGeom>
          <a:solidFill>
            <a:schemeClr val="l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7576536" y="4693667"/>
            <a:ext cx="456148" cy="447675"/>
          </a:xfrm>
          <a:prstGeom prst="dodecagon">
            <a:avLst/>
          </a:prstGeom>
          <a:solidFill>
            <a:schemeClr val="l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5953662" y="4693667"/>
            <a:ext cx="393681" cy="447675"/>
          </a:xfrm>
          <a:prstGeom prst="dodecagon">
            <a:avLst/>
          </a:prstGeom>
          <a:solidFill>
            <a:schemeClr val="l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4331102" y="4577359"/>
            <a:ext cx="418785" cy="447675"/>
          </a:xfrm>
          <a:prstGeom prst="dodecagon">
            <a:avLst/>
          </a:prstGeom>
          <a:solidFill>
            <a:schemeClr val="l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8"/>
          <p:cNvSpPr/>
          <p:nvPr/>
        </p:nvSpPr>
        <p:spPr>
          <a:xfrm rot="217471">
            <a:off x="2886281" y="4139073"/>
            <a:ext cx="409877" cy="447675"/>
          </a:xfrm>
          <a:prstGeom prst="dodecagon">
            <a:avLst/>
          </a:prstGeom>
          <a:solidFill>
            <a:schemeClr val="l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8"/>
          <p:cNvSpPr/>
          <p:nvPr/>
        </p:nvSpPr>
        <p:spPr>
          <a:xfrm rot="-5053184">
            <a:off x="2136675" y="3439519"/>
            <a:ext cx="438150" cy="435890"/>
          </a:xfrm>
          <a:prstGeom prst="dodecagon">
            <a:avLst/>
          </a:prstGeom>
          <a:solidFill>
            <a:schemeClr val="l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8"/>
          <p:cNvSpPr txBox="1"/>
          <p:nvPr/>
        </p:nvSpPr>
        <p:spPr>
          <a:xfrm rot="346816">
            <a:off x="2196206" y="3497074"/>
            <a:ext cx="319088" cy="320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8"/>
          <p:cNvSpPr/>
          <p:nvPr/>
        </p:nvSpPr>
        <p:spPr>
          <a:xfrm rot="5400000">
            <a:off x="2950075" y="2592617"/>
            <a:ext cx="438150" cy="460865"/>
          </a:xfrm>
          <a:prstGeom prst="dodecagon">
            <a:avLst/>
          </a:prstGeom>
          <a:solidFill>
            <a:schemeClr val="l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8"/>
          <p:cNvSpPr txBox="1"/>
          <p:nvPr/>
        </p:nvSpPr>
        <p:spPr>
          <a:xfrm>
            <a:off x="3000465" y="2662662"/>
            <a:ext cx="337370" cy="320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4146114" y="2425872"/>
            <a:ext cx="495501" cy="412685"/>
          </a:xfrm>
          <a:prstGeom prst="dodecagon">
            <a:avLst/>
          </a:prstGeom>
          <a:solidFill>
            <a:schemeClr val="lt1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8"/>
          <p:cNvSpPr txBox="1"/>
          <p:nvPr/>
        </p:nvSpPr>
        <p:spPr>
          <a:xfrm>
            <a:off x="8482257" y="4574761"/>
            <a:ext cx="1673182" cy="84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Testes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(Testes das </a:t>
            </a:r>
            <a:endParaRPr/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unidades)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8"/>
          <p:cNvSpPr txBox="1"/>
          <p:nvPr/>
        </p:nvSpPr>
        <p:spPr>
          <a:xfrm>
            <a:off x="7129294" y="1765618"/>
            <a:ext cx="1608776" cy="738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Pequenas Versões</a:t>
            </a:r>
            <a:endParaRPr/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(Implementação parcial)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8"/>
          <p:cNvSpPr txBox="1"/>
          <p:nvPr/>
        </p:nvSpPr>
        <p:spPr>
          <a:xfrm>
            <a:off x="8560604" y="2229246"/>
            <a:ext cx="1608776" cy="919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Metáforas</a:t>
            </a:r>
            <a:endParaRPr/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função da metáfora é melhorar a comunicação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8"/>
          <p:cNvSpPr txBox="1"/>
          <p:nvPr/>
        </p:nvSpPr>
        <p:spPr>
          <a:xfrm>
            <a:off x="9353668" y="3597231"/>
            <a:ext cx="1608776" cy="557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simples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(Sistema simples)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8"/>
          <p:cNvSpPr txBox="1"/>
          <p:nvPr/>
        </p:nvSpPr>
        <p:spPr>
          <a:xfrm>
            <a:off x="5338435" y="1444117"/>
            <a:ext cx="1608776" cy="919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Jogo de Planejamento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(Início do projeto – explorar)</a:t>
            </a:r>
            <a:endParaRPr/>
          </a:p>
        </p:txBody>
      </p:sp>
      <p:sp>
        <p:nvSpPr>
          <p:cNvPr id="466" name="Google Shape;466;p18"/>
          <p:cNvSpPr txBox="1"/>
          <p:nvPr/>
        </p:nvSpPr>
        <p:spPr>
          <a:xfrm>
            <a:off x="7070416" y="5282452"/>
            <a:ext cx="1608776" cy="738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Refatoração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(Reestruturação do Sistema)</a:t>
            </a:r>
            <a:endParaRPr/>
          </a:p>
        </p:txBody>
      </p:sp>
      <p:sp>
        <p:nvSpPr>
          <p:cNvPr id="467" name="Google Shape;467;p18"/>
          <p:cNvSpPr txBox="1"/>
          <p:nvPr/>
        </p:nvSpPr>
        <p:spPr>
          <a:xfrm>
            <a:off x="1941704" y="4475626"/>
            <a:ext cx="1457161" cy="1001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Integração Contínua</a:t>
            </a:r>
            <a:endParaRPr/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(Armazenamento em repositório</a:t>
            </a:r>
            <a:r>
              <a:rPr lang="pt-BR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8"/>
          <p:cNvSpPr txBox="1"/>
          <p:nvPr/>
        </p:nvSpPr>
        <p:spPr>
          <a:xfrm>
            <a:off x="967040" y="3283700"/>
            <a:ext cx="1365302" cy="919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 Horas semanais</a:t>
            </a:r>
            <a:endParaRPr/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(Ritmo de trabalho)</a:t>
            </a:r>
            <a:endParaRPr/>
          </a:p>
        </p:txBody>
      </p:sp>
      <p:sp>
        <p:nvSpPr>
          <p:cNvPr id="469" name="Google Shape;469;p18"/>
          <p:cNvSpPr txBox="1"/>
          <p:nvPr/>
        </p:nvSpPr>
        <p:spPr>
          <a:xfrm>
            <a:off x="1849241" y="2097061"/>
            <a:ext cx="1608776" cy="557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 no local</a:t>
            </a:r>
            <a:endParaRPr/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(Usuário real)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8"/>
          <p:cNvSpPr txBox="1"/>
          <p:nvPr/>
        </p:nvSpPr>
        <p:spPr>
          <a:xfrm>
            <a:off x="3639090" y="5014572"/>
            <a:ext cx="1608776" cy="809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Proprietário do Código coletivo </a:t>
            </a:r>
            <a:r>
              <a:rPr lang="pt-BR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(Responsabilidade pelos arquivos)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8"/>
          <p:cNvSpPr txBox="1"/>
          <p:nvPr/>
        </p:nvSpPr>
        <p:spPr>
          <a:xfrm>
            <a:off x="5375679" y="5255367"/>
            <a:ext cx="1608776" cy="919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Programação em Pares</a:t>
            </a:r>
            <a:endParaRPr/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(Programação em dupla)</a:t>
            </a:r>
            <a:endParaRPr/>
          </a:p>
        </p:txBody>
      </p:sp>
      <p:sp>
        <p:nvSpPr>
          <p:cNvPr id="472" name="Google Shape;472;p18"/>
          <p:cNvSpPr txBox="1"/>
          <p:nvPr/>
        </p:nvSpPr>
        <p:spPr>
          <a:xfrm>
            <a:off x="3534437" y="1637319"/>
            <a:ext cx="1608776" cy="738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Padrões de Codificação</a:t>
            </a:r>
            <a:endParaRPr/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(Código Consistente)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9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</a:pPr>
            <a:r>
              <a:rPr lang="pt-BR"/>
              <a:t>KANBAN</a:t>
            </a:r>
            <a:endParaRPr/>
          </a:p>
        </p:txBody>
      </p:sp>
      <p:sp>
        <p:nvSpPr>
          <p:cNvPr id="478" name="Google Shape;478;p19"/>
          <p:cNvSpPr txBox="1"/>
          <p:nvPr>
            <p:ph idx="1" type="subTitle"/>
          </p:nvPr>
        </p:nvSpPr>
        <p:spPr>
          <a:xfrm>
            <a:off x="2331789" y="3812143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pt-BR"/>
              <a:t>Kanban significa cartão ou sinalização. Utilizada para sinalizar o que realmente é necessário para a produção. Consegue ter uma visão real do problema.</a:t>
            </a:r>
            <a:endParaRPr/>
          </a:p>
        </p:txBody>
      </p:sp>
      <p:pic>
        <p:nvPicPr>
          <p:cNvPr descr="Imagem relacionada" id="479" name="Google Shape;4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415" y="0"/>
            <a:ext cx="1124585" cy="112458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9"/>
          <p:cNvSpPr/>
          <p:nvPr/>
        </p:nvSpPr>
        <p:spPr>
          <a:xfrm>
            <a:off x="8877835" y="3449390"/>
            <a:ext cx="3314165" cy="3058018"/>
          </a:xfrm>
          <a:prstGeom prst="verticalScroll">
            <a:avLst>
              <a:gd fmla="val 12500" name="adj"/>
            </a:avLst>
          </a:prstGeom>
          <a:solidFill>
            <a:srgbClr val="D8D8D8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9"/>
          <p:cNvSpPr txBox="1"/>
          <p:nvPr/>
        </p:nvSpPr>
        <p:spPr>
          <a:xfrm>
            <a:off x="9344926" y="3860525"/>
            <a:ext cx="2361300" cy="2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Ferramenta de gestão de tarefas, permite identificar as etapas do processo e o que deve ser feito, de modo a gerenciar o tempo para a sua execução. Pode ser utilizado em diversas áreas, de forma ágil e organizada.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0"/>
          <p:cNvSpPr/>
          <p:nvPr/>
        </p:nvSpPr>
        <p:spPr>
          <a:xfrm>
            <a:off x="3473523" y="1142058"/>
            <a:ext cx="2555754" cy="776893"/>
          </a:xfrm>
          <a:prstGeom prst="rect">
            <a:avLst/>
          </a:prstGeom>
          <a:solidFill>
            <a:srgbClr val="86A9CB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PREPARAR OS PROCESSOS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616370" y="1142059"/>
            <a:ext cx="2587927" cy="776893"/>
          </a:xfrm>
          <a:prstGeom prst="rect">
            <a:avLst/>
          </a:prstGeom>
          <a:solidFill>
            <a:srgbClr val="B8EDFA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PREPARAR A EQUIPE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6298503" y="1142058"/>
            <a:ext cx="2562163" cy="776893"/>
          </a:xfrm>
          <a:prstGeom prst="rect">
            <a:avLst/>
          </a:prstGeom>
          <a:solidFill>
            <a:srgbClr val="AEC4DC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ESQUEMAS DE CORES E PRIORIZAÇÃO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9070682" y="1142059"/>
            <a:ext cx="2417274" cy="776893"/>
          </a:xfrm>
          <a:prstGeom prst="rect">
            <a:avLst/>
          </a:prstGeom>
          <a:solidFill>
            <a:srgbClr val="D6E2ED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AVALIAR PARA MELHORAR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616370" y="2270699"/>
            <a:ext cx="2587926" cy="2623273"/>
          </a:xfrm>
          <a:prstGeom prst="rect">
            <a:avLst/>
          </a:prstGeom>
          <a:solidFill>
            <a:srgbClr val="B8EDFA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( ESCLARECER AS POSSIVEIS DÚVIDAS E ALINHAR O PROJETO)</a:t>
            </a:r>
            <a:endParaRPr sz="14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0"/>
          <p:cNvSpPr/>
          <p:nvPr/>
        </p:nvSpPr>
        <p:spPr>
          <a:xfrm>
            <a:off x="3473522" y="2270700"/>
            <a:ext cx="2555755" cy="2623272"/>
          </a:xfrm>
          <a:prstGeom prst="rect">
            <a:avLst/>
          </a:prstGeom>
          <a:solidFill>
            <a:srgbClr val="86A9CB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(MAPEAR E PREPARAR TODOS OS PROCESSOS)</a:t>
            </a:r>
            <a:endParaRPr sz="14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6298503" y="2270699"/>
            <a:ext cx="2529992" cy="2623273"/>
          </a:xfrm>
          <a:prstGeom prst="rect">
            <a:avLst/>
          </a:prstGeom>
          <a:solidFill>
            <a:srgbClr val="AEC4DC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(SINALIZAR AS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TAREFAS)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9096443" y="2270699"/>
            <a:ext cx="2391514" cy="2623273"/>
          </a:xfrm>
          <a:prstGeom prst="rect">
            <a:avLst/>
          </a:prstGeom>
          <a:solidFill>
            <a:srgbClr val="D6E2ED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( OUVIR E ANALISAR PARA ENTENDER OS PONTOS DE MELHORIA)</a:t>
            </a:r>
            <a:endParaRPr sz="14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1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</a:pPr>
            <a:r>
              <a:rPr lang="pt-BR"/>
              <a:t>KAIZEN</a:t>
            </a:r>
            <a:endParaRPr/>
          </a:p>
        </p:txBody>
      </p:sp>
      <p:sp>
        <p:nvSpPr>
          <p:cNvPr id="499" name="Google Shape;499;p21"/>
          <p:cNvSpPr txBox="1"/>
          <p:nvPr>
            <p:ph idx="1" type="subTitle"/>
          </p:nvPr>
        </p:nvSpPr>
        <p:spPr>
          <a:xfrm>
            <a:off x="2344669" y="3760628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pt-BR"/>
              <a:t>Kaizen significa mudança para melhor, ou seja, tem o intuito de melhorar um determinado problema.</a:t>
            </a:r>
            <a:endParaRPr/>
          </a:p>
        </p:txBody>
      </p:sp>
      <p:pic>
        <p:nvPicPr>
          <p:cNvPr descr="Imagem relacionada" id="500" name="Google Shape;5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415" y="0"/>
            <a:ext cx="1124585" cy="112458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1"/>
          <p:cNvSpPr/>
          <p:nvPr/>
        </p:nvSpPr>
        <p:spPr>
          <a:xfrm>
            <a:off x="8877835" y="3449390"/>
            <a:ext cx="3314165" cy="3058018"/>
          </a:xfrm>
          <a:prstGeom prst="verticalScroll">
            <a:avLst>
              <a:gd fmla="val 12500" name="adj"/>
            </a:avLst>
          </a:prstGeom>
          <a:solidFill>
            <a:srgbClr val="D8D8D8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1"/>
          <p:cNvSpPr txBox="1"/>
          <p:nvPr/>
        </p:nvSpPr>
        <p:spPr>
          <a:xfrm>
            <a:off x="9344926" y="3860525"/>
            <a:ext cx="2361300" cy="27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a implementação de melhorias relacionadas a gestão, serviços, produtos, negócios, entre outros. Possibilita avanços nos processos produtivos, redução de custos e aprimoramento de ideias para solucionar um problema.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relacionada" id="507" name="Google Shape;5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415" y="0"/>
            <a:ext cx="1124585" cy="112458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8" name="Google Shape;508;p22"/>
          <p:cNvGraphicFramePr/>
          <p:nvPr/>
        </p:nvGraphicFramePr>
        <p:xfrm>
          <a:off x="2032000" y="7196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{A19663DE-D88C-4495-B12A-411E228354D2}</a:tableStyleId>
              </a:tblPr>
              <a:tblGrid>
                <a:gridCol w="2709325"/>
                <a:gridCol w="2709325"/>
                <a:gridCol w="2709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PROBLEMA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AÇÃO TOMADA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509" name="Google Shape;509;p22"/>
          <p:cNvGraphicFramePr/>
          <p:nvPr/>
        </p:nvGraphicFramePr>
        <p:xfrm>
          <a:off x="1287887" y="7196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{A19663DE-D88C-4495-B12A-411E228354D2}</a:tableStyleId>
              </a:tblPr>
              <a:tblGrid>
                <a:gridCol w="3138150"/>
                <a:gridCol w="1569075"/>
                <a:gridCol w="1569075"/>
                <a:gridCol w="3138150"/>
              </a:tblGrid>
              <a:tr h="510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PROBLEMA</a:t>
                      </a:r>
                      <a:endParaRPr sz="1800">
                        <a:solidFill>
                          <a:schemeClr val="dk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>
                    <a:solidFill>
                      <a:srgbClr val="6DD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AÇÃO TOMADA</a:t>
                      </a:r>
                      <a:endParaRPr sz="1800">
                        <a:solidFill>
                          <a:schemeClr val="dk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RESULTADOS</a:t>
                      </a:r>
                      <a:endParaRPr sz="1800">
                        <a:solidFill>
                          <a:schemeClr val="dk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>
                    <a:solidFill>
                      <a:srgbClr val="D47E76"/>
                    </a:solidFill>
                  </a:tcPr>
                </a:tc>
              </a:tr>
              <a:tr h="216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B8EDF4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0D4D1"/>
                    </a:solidFill>
                  </a:tcPr>
                </a:tc>
              </a:tr>
              <a:tr h="45042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ANTES DA APLICAÇÃO DO MÉTODO</a:t>
                      </a:r>
                      <a:endParaRPr sz="18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>
                    <a:solidFill>
                      <a:srgbClr val="C0D66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APÓS A APLICAÇÃO</a:t>
                      </a:r>
                      <a:r>
                        <a:rPr b="1" lang="pt-BR" sz="1800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DO MÉTODO</a:t>
                      </a:r>
                      <a:endParaRPr b="1" sz="18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/>
                </a:tc>
                <a:tc hMerge="1"/>
              </a:tr>
              <a:tr h="5106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AF1CC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3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</a:pPr>
            <a:r>
              <a:rPr lang="pt-BR"/>
              <a:t>LEAN STARTUP</a:t>
            </a:r>
            <a:endParaRPr/>
          </a:p>
        </p:txBody>
      </p:sp>
      <p:sp>
        <p:nvSpPr>
          <p:cNvPr id="515" name="Google Shape;515;p23"/>
          <p:cNvSpPr txBox="1"/>
          <p:nvPr>
            <p:ph idx="1" type="subTitle"/>
          </p:nvPr>
        </p:nvSpPr>
        <p:spPr>
          <a:xfrm>
            <a:off x="2357548" y="3799265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pt-BR"/>
              <a:t>Lean Startup é indicado para validação de ideias e hipóteses. É constituído em três passos: Construir, medir e aprender.</a:t>
            </a:r>
            <a:endParaRPr/>
          </a:p>
        </p:txBody>
      </p:sp>
      <p:pic>
        <p:nvPicPr>
          <p:cNvPr descr="Imagem relacionada" id="516" name="Google Shape;5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415" y="0"/>
            <a:ext cx="1124585" cy="1124585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23"/>
          <p:cNvSpPr/>
          <p:nvPr/>
        </p:nvSpPr>
        <p:spPr>
          <a:xfrm>
            <a:off x="8877835" y="3449390"/>
            <a:ext cx="3314165" cy="3058018"/>
          </a:xfrm>
          <a:prstGeom prst="verticalScroll">
            <a:avLst>
              <a:gd fmla="val 12500" name="adj"/>
            </a:avLst>
          </a:prstGeom>
          <a:solidFill>
            <a:srgbClr val="D8D8D8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3"/>
          <p:cNvSpPr txBox="1"/>
          <p:nvPr/>
        </p:nvSpPr>
        <p:spPr>
          <a:xfrm>
            <a:off x="9344926" y="3860525"/>
            <a:ext cx="2376600" cy="28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empreendedores, permite validar produtos e serviços. Possibilita realizar testes no desenvolvimento de produtos e a implementação de planos de ação, gerando inovação e aumento da produtividade.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24"/>
          <p:cNvGrpSpPr/>
          <p:nvPr/>
        </p:nvGrpSpPr>
        <p:grpSpPr>
          <a:xfrm>
            <a:off x="3214227" y="451118"/>
            <a:ext cx="5776431" cy="5684593"/>
            <a:chOff x="1182227" y="-268548"/>
            <a:chExt cx="5776431" cy="5684593"/>
          </a:xfrm>
        </p:grpSpPr>
        <p:sp>
          <p:nvSpPr>
            <p:cNvPr id="524" name="Google Shape;524;p24"/>
            <p:cNvSpPr/>
            <p:nvPr/>
          </p:nvSpPr>
          <p:spPr>
            <a:xfrm>
              <a:off x="3334742" y="2620"/>
              <a:ext cx="1458515" cy="948035"/>
            </a:xfrm>
            <a:prstGeom prst="roundRect">
              <a:avLst>
                <a:gd fmla="val 16667" name="adj"/>
              </a:avLst>
            </a:prstGeom>
            <a:solidFill>
              <a:srgbClr val="86A9CB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4"/>
            <p:cNvSpPr txBox="1"/>
            <p:nvPr/>
          </p:nvSpPr>
          <p:spPr>
            <a:xfrm>
              <a:off x="3381021" y="48899"/>
              <a:ext cx="1365957" cy="855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IDEIAS</a:t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24"/>
            <p:cNvSpPr/>
            <p:nvPr/>
          </p:nvSpPr>
          <p:spPr>
            <a:xfrm>
              <a:off x="1896855" y="498163"/>
              <a:ext cx="4465390" cy="4465390"/>
            </a:xfrm>
            <a:custGeom>
              <a:rect b="b" l="l" r="r" t="t"/>
              <a:pathLst>
                <a:path extrusionOk="0" h="120000" w="120000">
                  <a:moveTo>
                    <a:pt x="78229" y="2836"/>
                  </a:moveTo>
                  <a:lnTo>
                    <a:pt x="78229" y="2836"/>
                  </a:lnTo>
                  <a:cubicBezTo>
                    <a:pt x="91468" y="7058"/>
                    <a:pt x="102831" y="15744"/>
                    <a:pt x="110378" y="27411"/>
                  </a:cubicBezTo>
                </a:path>
              </a:pathLst>
            </a:custGeom>
            <a:noFill/>
            <a:ln cap="flat" cmpd="sng" w="9525">
              <a:solidFill>
                <a:srgbClr val="8299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4"/>
            <p:cNvSpPr/>
            <p:nvPr/>
          </p:nvSpPr>
          <p:spPr>
            <a:xfrm>
              <a:off x="5500143" y="1531090"/>
              <a:ext cx="1458515" cy="948035"/>
            </a:xfrm>
            <a:prstGeom prst="roundRect">
              <a:avLst>
                <a:gd fmla="val 16667" name="adj"/>
              </a:avLst>
            </a:prstGeom>
            <a:solidFill>
              <a:srgbClr val="829927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4"/>
            <p:cNvSpPr txBox="1"/>
            <p:nvPr/>
          </p:nvSpPr>
          <p:spPr>
            <a:xfrm>
              <a:off x="5546422" y="1577369"/>
              <a:ext cx="1365957" cy="855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CONSTRUIR</a:t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4"/>
            <p:cNvSpPr/>
            <p:nvPr/>
          </p:nvSpPr>
          <p:spPr>
            <a:xfrm>
              <a:off x="1877902" y="-2520"/>
              <a:ext cx="4465390" cy="4465390"/>
            </a:xfrm>
            <a:custGeom>
              <a:rect b="b" l="l" r="r" t="t"/>
              <a:pathLst>
                <a:path extrusionOk="0" h="120000" w="120000">
                  <a:moveTo>
                    <a:pt x="119618" y="66759"/>
                  </a:moveTo>
                  <a:cubicBezTo>
                    <a:pt x="119363" y="69012"/>
                    <a:pt x="118980" y="71248"/>
                    <a:pt x="118471" y="73458"/>
                  </a:cubicBezTo>
                </a:path>
              </a:pathLst>
            </a:custGeom>
            <a:noFill/>
            <a:ln cap="flat" cmpd="sng" w="9525">
              <a:solidFill>
                <a:srgbClr val="8299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4"/>
            <p:cNvSpPr/>
            <p:nvPr/>
          </p:nvSpPr>
          <p:spPr>
            <a:xfrm>
              <a:off x="5500134" y="2733476"/>
              <a:ext cx="1458515" cy="948035"/>
            </a:xfrm>
            <a:prstGeom prst="roundRect">
              <a:avLst>
                <a:gd fmla="val 16667" name="adj"/>
              </a:avLst>
            </a:prstGeom>
            <a:solidFill>
              <a:srgbClr val="86A9CB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4"/>
            <p:cNvSpPr txBox="1"/>
            <p:nvPr/>
          </p:nvSpPr>
          <p:spPr>
            <a:xfrm>
              <a:off x="5546413" y="2779755"/>
              <a:ext cx="1365957" cy="855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PRODUTO</a:t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4"/>
            <p:cNvSpPr/>
            <p:nvPr/>
          </p:nvSpPr>
          <p:spPr>
            <a:xfrm>
              <a:off x="1816950" y="481653"/>
              <a:ext cx="4465390" cy="4465390"/>
            </a:xfrm>
            <a:custGeom>
              <a:rect b="b" l="l" r="r" t="t"/>
              <a:pathLst>
                <a:path extrusionOk="0" h="120000" w="120000">
                  <a:moveTo>
                    <a:pt x="113878" y="86403"/>
                  </a:moveTo>
                  <a:cubicBezTo>
                    <a:pt x="107035" y="100367"/>
                    <a:pt x="95037" y="111129"/>
                    <a:pt x="80414" y="116420"/>
                  </a:cubicBezTo>
                </a:path>
              </a:pathLst>
            </a:custGeom>
            <a:noFill/>
            <a:ln cap="flat" cmpd="sng" w="9525">
              <a:solidFill>
                <a:srgbClr val="8299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4"/>
            <p:cNvSpPr/>
            <p:nvPr/>
          </p:nvSpPr>
          <p:spPr>
            <a:xfrm>
              <a:off x="3334742" y="4468010"/>
              <a:ext cx="1458515" cy="948035"/>
            </a:xfrm>
            <a:prstGeom prst="roundRect">
              <a:avLst>
                <a:gd fmla="val 16667" name="adj"/>
              </a:avLst>
            </a:prstGeom>
            <a:solidFill>
              <a:srgbClr val="829927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4"/>
            <p:cNvSpPr txBox="1"/>
            <p:nvPr/>
          </p:nvSpPr>
          <p:spPr>
            <a:xfrm>
              <a:off x="3381021" y="4514289"/>
              <a:ext cx="1365957" cy="855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MEDIR</a:t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24"/>
            <p:cNvSpPr/>
            <p:nvPr/>
          </p:nvSpPr>
          <p:spPr>
            <a:xfrm>
              <a:off x="1876257" y="492713"/>
              <a:ext cx="4465390" cy="4465390"/>
            </a:xfrm>
            <a:custGeom>
              <a:rect b="b" l="l" r="r" t="t"/>
              <a:pathLst>
                <a:path extrusionOk="0" h="120000" w="120000">
                  <a:moveTo>
                    <a:pt x="38757" y="116114"/>
                  </a:moveTo>
                  <a:lnTo>
                    <a:pt x="38757" y="116114"/>
                  </a:lnTo>
                  <a:cubicBezTo>
                    <a:pt x="23903" y="110491"/>
                    <a:pt x="11884" y="99207"/>
                    <a:pt x="5336" y="84736"/>
                  </a:cubicBezTo>
                </a:path>
              </a:pathLst>
            </a:custGeom>
            <a:noFill/>
            <a:ln cap="flat" cmpd="sng" w="9525">
              <a:solidFill>
                <a:srgbClr val="8299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4"/>
            <p:cNvSpPr/>
            <p:nvPr/>
          </p:nvSpPr>
          <p:spPr>
            <a:xfrm>
              <a:off x="1182237" y="2681963"/>
              <a:ext cx="1458515" cy="948035"/>
            </a:xfrm>
            <a:prstGeom prst="roundRect">
              <a:avLst>
                <a:gd fmla="val 16667" name="adj"/>
              </a:avLst>
            </a:prstGeom>
            <a:solidFill>
              <a:srgbClr val="86A9CB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4"/>
            <p:cNvSpPr txBox="1"/>
            <p:nvPr/>
          </p:nvSpPr>
          <p:spPr>
            <a:xfrm>
              <a:off x="1228516" y="2728242"/>
              <a:ext cx="1365957" cy="855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DADOS</a:t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4"/>
            <p:cNvSpPr/>
            <p:nvPr/>
          </p:nvSpPr>
          <p:spPr>
            <a:xfrm>
              <a:off x="1747277" y="-268548"/>
              <a:ext cx="4465390" cy="4465390"/>
            </a:xfrm>
            <a:custGeom>
              <a:rect b="b" l="l" r="r" t="t"/>
              <a:pathLst>
                <a:path extrusionOk="0" h="120000" w="120000">
                  <a:moveTo>
                    <a:pt x="3174" y="79257"/>
                  </a:moveTo>
                  <a:cubicBezTo>
                    <a:pt x="2804" y="78165"/>
                    <a:pt x="2465" y="77062"/>
                    <a:pt x="2159" y="75950"/>
                  </a:cubicBezTo>
                </a:path>
              </a:pathLst>
            </a:custGeom>
            <a:noFill/>
            <a:ln cap="flat" cmpd="sng" w="9525">
              <a:solidFill>
                <a:srgbClr val="8299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1182227" y="1608363"/>
              <a:ext cx="1458515" cy="948035"/>
            </a:xfrm>
            <a:prstGeom prst="roundRect">
              <a:avLst>
                <a:gd fmla="val 16667" name="adj"/>
              </a:avLst>
            </a:prstGeom>
            <a:solidFill>
              <a:srgbClr val="829927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4"/>
            <p:cNvSpPr txBox="1"/>
            <p:nvPr/>
          </p:nvSpPr>
          <p:spPr>
            <a:xfrm>
              <a:off x="1228506" y="1654642"/>
              <a:ext cx="1365957" cy="855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APRENDER</a:t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24"/>
            <p:cNvSpPr/>
            <p:nvPr/>
          </p:nvSpPr>
          <p:spPr>
            <a:xfrm>
              <a:off x="1818092" y="481158"/>
              <a:ext cx="4465390" cy="4465390"/>
            </a:xfrm>
            <a:custGeom>
              <a:rect b="b" l="l" r="r" t="t"/>
              <a:pathLst>
                <a:path extrusionOk="0" h="120000" w="120000">
                  <a:moveTo>
                    <a:pt x="8083" y="29922"/>
                  </a:moveTo>
                  <a:cubicBezTo>
                    <a:pt x="15299" y="17467"/>
                    <a:pt x="26752" y="8021"/>
                    <a:pt x="40354" y="3307"/>
                  </a:cubicBezTo>
                </a:path>
              </a:pathLst>
            </a:custGeom>
            <a:noFill/>
            <a:ln cap="flat" cmpd="sng" w="9525">
              <a:solidFill>
                <a:srgbClr val="8299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5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</a:pPr>
            <a:r>
              <a:rPr lang="pt-BR"/>
              <a:t>MÉTODO 5W2H</a:t>
            </a:r>
            <a:endParaRPr/>
          </a:p>
        </p:txBody>
      </p:sp>
      <p:sp>
        <p:nvSpPr>
          <p:cNvPr id="547" name="Google Shape;547;p25"/>
          <p:cNvSpPr txBox="1"/>
          <p:nvPr>
            <p:ph idx="1" type="subTitle"/>
          </p:nvPr>
        </p:nvSpPr>
        <p:spPr>
          <a:xfrm>
            <a:off x="2383305" y="3825022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pt-BR"/>
              <a:t>O método 5W2H eliminam as dúvidas que aparecem durante o processo ou atividade, contribui na execução e no controle das tarefas. São 5 W e 2 H, conforme questionamentos a seguir.</a:t>
            </a:r>
            <a:endParaRPr/>
          </a:p>
        </p:txBody>
      </p:sp>
      <p:pic>
        <p:nvPicPr>
          <p:cNvPr descr="Imagem relacionada" id="548" name="Google Shape;5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415" y="0"/>
            <a:ext cx="1124585" cy="1124585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25"/>
          <p:cNvSpPr/>
          <p:nvPr/>
        </p:nvSpPr>
        <p:spPr>
          <a:xfrm>
            <a:off x="8877835" y="3449390"/>
            <a:ext cx="3314165" cy="3058018"/>
          </a:xfrm>
          <a:prstGeom prst="verticalScroll">
            <a:avLst>
              <a:gd fmla="val 12500" name="adj"/>
            </a:avLst>
          </a:prstGeom>
          <a:solidFill>
            <a:srgbClr val="D8D8D8"/>
          </a:solidFill>
          <a:ln cap="flat" cmpd="sng" w="15875">
            <a:solidFill>
              <a:srgbClr val="5F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5"/>
          <p:cNvSpPr txBox="1"/>
          <p:nvPr/>
        </p:nvSpPr>
        <p:spPr>
          <a:xfrm>
            <a:off x="9344932" y="3860530"/>
            <a:ext cx="2572200" cy="27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Ferramenta rápida e objetiva para planejamento e execução de ações, permite verificar metas e atividades a serem executadas. Utilizada para o desenvolvimento de projetos, organização de gestão, desenvolvimento de produtos e serviços, entre outros.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5" name="Google Shape;555;p26"/>
          <p:cNvGraphicFramePr/>
          <p:nvPr/>
        </p:nvGraphicFramePr>
        <p:xfrm>
          <a:off x="1094704" y="7196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{A19663DE-D88C-4495-B12A-411E228354D2}</a:tableStyleId>
              </a:tblPr>
              <a:tblGrid>
                <a:gridCol w="3734875"/>
                <a:gridCol w="62977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PASSO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– O que faremos?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WHY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– Por que faremos?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WHERE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– Onde faremos?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WHO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– Quem fará?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WHEN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– Quando faremos?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 Como faremos?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HOW MUCH</a:t>
                      </a:r>
                      <a:r>
                        <a:rPr lang="pt-BR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 – Quanto vai custar?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descr="Imagem relacionada" id="556" name="Google Shape;5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415" y="0"/>
            <a:ext cx="1124585" cy="1124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7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</a:pPr>
            <a:r>
              <a:rPr lang="pt-BR"/>
              <a:t>Seja criativo, pesquise, inove!</a:t>
            </a:r>
            <a:endParaRPr/>
          </a:p>
        </p:txBody>
      </p:sp>
      <p:pic>
        <p:nvPicPr>
          <p:cNvPr descr="Imagem relacionada" id="562" name="Google Shape;5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415" y="0"/>
            <a:ext cx="1124585" cy="1124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rgânico">
  <a:themeElements>
    <a:clrScheme name="Orgânico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2019-10-03T13:06:42Z</dcterms:created>
  <dc:creator>Andressa Schiavone Pereira Aquaroni Vieira</dc:creator>
</cp:coreProperties>
</file>